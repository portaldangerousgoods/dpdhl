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7" r:id="rId5"/>
    <p:sldId id="282" r:id="rId6"/>
    <p:sldId id="262" r:id="rId7"/>
    <p:sldId id="300" r:id="rId8"/>
    <p:sldId id="294" r:id="rId9"/>
    <p:sldId id="263" r:id="rId10"/>
    <p:sldId id="309" r:id="rId11"/>
    <p:sldId id="297" r:id="rId12"/>
    <p:sldId id="296" r:id="rId13"/>
    <p:sldId id="301" r:id="rId14"/>
    <p:sldId id="299" r:id="rId15"/>
    <p:sldId id="302" r:id="rId16"/>
    <p:sldId id="304" r:id="rId17"/>
    <p:sldId id="287" r:id="rId18"/>
    <p:sldId id="305" r:id="rId19"/>
    <p:sldId id="306" r:id="rId20"/>
    <p:sldId id="308" r:id="rId21"/>
    <p:sldId id="307" r:id="rId22"/>
    <p:sldId id="271" r:id="rId23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A4A3A4"/>
          </p15:clr>
        </p15:guide>
        <p15:guide id="2" pos="5556" userDrawn="1">
          <p15:clr>
            <a:srgbClr val="A4A3A4"/>
          </p15:clr>
        </p15:guide>
        <p15:guide id="3" orient="horz" pos="725" userDrawn="1">
          <p15:clr>
            <a:srgbClr val="A4A3A4"/>
          </p15:clr>
        </p15:guide>
        <p15:guide id="4" orient="horz" pos="2949" userDrawn="1">
          <p15:clr>
            <a:srgbClr val="A4A3A4"/>
          </p15:clr>
        </p15:guide>
        <p15:guide id="5" orient="horz" pos="238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2933" userDrawn="1">
          <p15:clr>
            <a:srgbClr val="A4A3A4"/>
          </p15:clr>
        </p15:guide>
        <p15:guide id="8" pos="2023" userDrawn="1">
          <p15:clr>
            <a:srgbClr val="A4A3A4"/>
          </p15:clr>
        </p15:guide>
        <p15:guide id="9" pos="1917" userDrawn="1">
          <p15:clr>
            <a:srgbClr val="A4A3A4"/>
          </p15:clr>
        </p15:guide>
        <p15:guide id="10" pos="3737" userDrawn="1">
          <p15:clr>
            <a:srgbClr val="A4A3A4"/>
          </p15:clr>
        </p15:guide>
        <p15:guide id="11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ke Schmidt" initials="MS" lastIdx="3" clrIdx="0">
    <p:extLst>
      <p:ext uri="{19B8F6BF-5375-455C-9EA6-DF929625EA0E}">
        <p15:presenceInfo xmlns:p15="http://schemas.microsoft.com/office/powerpoint/2012/main" userId="S::maike.schmidt@strategy-compass.com::b4eb969c-01b2-4915-aef7-794a5e1ecc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AE"/>
    <a:srgbClr val="1A9C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9810C2D-2C2F-4581-8AFF-CD78C2D722A2}">
  <a:tblStyle styleId="{09810C2D-2C2F-4581-8AFF-CD78C2D722A2}" styleName="DHL Table No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/>
      <a:tcStyle>
        <a:tcBdr/>
      </a:tcStyle>
    </a:lastCol>
    <a:firstCol>
      <a:tcStyle>
        <a:tcBdr/>
        <a:fill>
          <a:noFill/>
        </a:fill>
      </a:tcStyle>
    </a:firstCol>
    <a:lastRow>
      <a:tcStyle>
        <a:tcBdr/>
        <a:fill>
          <a:noFill/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6C8A55F-5544-428C-9B86-97CFDF07063B}" styleName="DHL Table White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1">
              <a:tint val="100000"/>
            </a:schemeClr>
          </a:solidFill>
        </a:fill>
      </a:tcStyle>
    </a:band1H>
    <a:band2H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H>
    <a:band1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1V>
    <a:band2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V>
    <a:lastCol>
      <a:tcTxStyle/>
      <a:tcStyle>
        <a:tcBdr/>
      </a:tcStyle>
    </a:lastCol>
    <a:firstCol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firstCol>
    <a:lastRow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1204" y="280"/>
      </p:cViewPr>
      <p:guideLst>
        <p:guide pos="204"/>
        <p:guide pos="5556"/>
        <p:guide orient="horz" pos="725"/>
        <p:guide orient="horz" pos="2949"/>
        <p:guide orient="horz" pos="238"/>
        <p:guide pos="2832"/>
        <p:guide pos="2933"/>
        <p:guide pos="2023"/>
        <p:guide pos="1917"/>
        <p:guide pos="3737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CAE4-CBB0-454E-B6B8-0B6620C2B409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53AD6-CEF2-4FD5-AABC-FCC5FC528AD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1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ONE OR TWO LINES,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077289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meta-project">
            <a:extLst>
              <a:ext uri="{FF2B5EF4-FFF2-40B4-BE49-F238E27FC236}">
                <a16:creationId xmlns:a16="http://schemas.microsoft.com/office/drawing/2014/main" id="{8F28B7B0-34F9-4874-994D-5A49D798B3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2614115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Location, ## Month ####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00A256-AF89-4D8F-86B6-F3DC3A23E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6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4" y="0"/>
            <a:ext cx="3851274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D7980B-2166-486B-BE62-14DA39048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1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half page gradient, full page picture">
    <p:bg>
      <p:bgPr>
        <a:gradFill flip="none" rotWithShape="1">
          <a:gsLst>
            <a:gs pos="40000">
              <a:schemeClr val="accent3"/>
            </a:gs>
            <a:gs pos="80000">
              <a:srgbClr val="FFEFB5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9B50F6-B70A-4FAE-B403-A7AA47855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19" y="519114"/>
            <a:ext cx="4802400" cy="4467600"/>
          </a:xfrm>
          <a:prstGeom prst="rect">
            <a:avLst/>
          </a:prstGeom>
          <a:gradFill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58969"/>
            <a:ext cx="4657246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144018"/>
            <a:ext cx="4657245" cy="1614951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57246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57246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meta-classification">
            <a:extLst>
              <a:ext uri="{FF2B5EF4-FFF2-40B4-BE49-F238E27FC236}">
                <a16:creationId xmlns:a16="http://schemas.microsoft.com/office/drawing/2014/main" id="{4453C777-669F-4D78-BCD9-96F8D8935A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accent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303555C-2957-4400-9295-0766E686CF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68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light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8196275-11AD-46AC-8347-3CB841C40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C36D145-7D48-43DF-A3F6-93C7BE477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441327"/>
            <a:ext cx="8658000" cy="543577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meta-classification">
            <a:extLst>
              <a:ext uri="{FF2B5EF4-FFF2-40B4-BE49-F238E27FC236}">
                <a16:creationId xmlns:a16="http://schemas.microsoft.com/office/drawing/2014/main" id="{D9E8B1FE-DCB0-4CE3-9B7F-0C0FDE0187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accent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C4F0112-2910-40C5-9080-8F8BD963E6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25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dark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B4A82-6837-42CB-8B67-FDC5119BE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40000">
                <a:schemeClr val="tx1">
                  <a:alpha val="30000"/>
                </a:schemeClr>
              </a:gs>
            </a:gsLst>
            <a:lin ang="0" scaled="1"/>
            <a:tileRect/>
          </a:grad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8EBE0D14-C041-444F-B729-0732261905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333333"/>
          </a:solidFill>
        </p:spPr>
        <p:txBody>
          <a:bodyPr lIns="324000" tIns="576000"/>
          <a:lstStyle>
            <a:lvl1pPr>
              <a:defRPr sz="1000" b="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use and adjust this transparent box to darken the background image for good readability. Please insert an image and send it to the background.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1DFF7BB-5301-4F2D-9EE9-581891DB91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441327"/>
            <a:ext cx="8658000" cy="543577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bg1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bg1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meta-classification">
            <a:extLst>
              <a:ext uri="{FF2B5EF4-FFF2-40B4-BE49-F238E27FC236}">
                <a16:creationId xmlns:a16="http://schemas.microsoft.com/office/drawing/2014/main" id="{D9E8B1FE-DCB0-4CE3-9B7F-0C0FDE0187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bg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3AE83C8-1BB0-4112-BB84-46ED14A646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7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with Gradient,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34C61-AE90-4876-9405-4282167F3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95B8-0DD2-4278-B191-4D18AA251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9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image, 36 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6" y="0"/>
            <a:ext cx="3851275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55C8B4-1569-420F-94F8-0A45D58CC3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E2F84-6B48-4F57-8783-342F789CB3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5AA5-C875-4E2C-962B-7BF752DF5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ED683-F9E2-432B-9EE5-F787159B7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C2FE-3516-4404-9D7F-3E6C342436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3BBD46-F6A3-49DC-8F32-053AD1A88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1150938"/>
            <a:ext cx="2722563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39E3AB-4E3D-4482-A3E6-FBBC80DEA3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339" y="1150938"/>
            <a:ext cx="2722564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 startAt="7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33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4958-514A-4601-B68D-C79842B99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7EF1F-9ACF-48EE-A949-EAF146453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8F358-6501-48B8-80CA-E7836E5B98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14529-BCAE-43FA-A029-C343F83E04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sz="1200" dirty="0"/>
              <a:t>Bullet number, Delivery, 12 </a:t>
            </a:r>
            <a:r>
              <a:rPr lang="en-US" sz="1200" dirty="0" err="1"/>
              <a:t>pt</a:t>
            </a:r>
            <a:r>
              <a:rPr lang="en-US" sz="12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ED03-C33D-4356-A21D-74205078B24D}"/>
              </a:ext>
            </a:extLst>
          </p:cNvPr>
          <p:cNvSpPr/>
          <p:nvPr/>
        </p:nvSpPr>
        <p:spPr>
          <a:xfrm>
            <a:off x="2286000" y="1729212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40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F21E-737D-4419-BFB1-7E3BAF4E7B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C42CC-B85A-402A-8160-8B4CC7900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8AF6-F51C-40B8-BD5A-EE1AE942F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6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9F3C-D71F-48B0-816B-AA2AB6497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F32AD-3FC7-4091-8554-127642F80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0CEC-C0BC-4F28-99ED-9A7B307FEE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5EC38-B07E-496F-9ED7-8B08225083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9D4F118-EC4E-4697-8B94-89026AF38F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355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21F6A-3851-4800-A70C-75B7E973A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140EB-C614-490E-95CD-A54BE084B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38679AF-4954-4658-B135-45730398D31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FEE81-04E7-45FF-A241-7D07B82E5C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97623A-4EAB-41C4-80D7-12A550C73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5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 half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A2DAE2-6DBF-4F49-9437-0D73AEFD3F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3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4E13D6-6E2C-4C07-9513-3C9141998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6393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764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6D4CF33-6E7C-43C9-AC12-73ECACB280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270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1"/>
          </a:gra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B0B4FDD3-3FA4-45F2-86F1-10A9DA1AAD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553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B0B4FDD3-3FA4-45F2-86F1-10A9DA1AA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6E863B02-413C-4D73-A746-5B2F80C99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2D3212C-E22A-4F68-B1DC-8BD83FA5F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454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empt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D0AD-4E79-4BFF-B8B5-BB937AA1C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27B9E-C404-4AF3-A250-0969317557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88F39-AB4C-43BD-98F0-FD644C145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90685DA-4536-4D1F-9676-24537EC648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1D8F016-E9C1-4ED6-8F46-E30AD613382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54548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87043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light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35D9B1-6310-46E2-8EA7-BFC29B52C6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907E47-AED8-4AB8-AA7A-2736D73CFC5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AE12-7456-4DFA-8832-22E05FDDD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FF1B3-6C52-429B-B6E4-B7B0F4F27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48D45-3AD0-4D87-AB1B-0B3F1D9CD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eta-classification">
            <a:extLst>
              <a:ext uri="{FF2B5EF4-FFF2-40B4-BE49-F238E27FC236}">
                <a16:creationId xmlns:a16="http://schemas.microsoft.com/office/drawing/2014/main" id="{84FC1FAD-68BA-45FC-95C2-D996FAEB73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accent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</p:spTree>
    <p:extLst>
      <p:ext uri="{BB962C8B-B14F-4D97-AF65-F5344CB8AC3E}">
        <p14:creationId xmlns:p14="http://schemas.microsoft.com/office/powerpoint/2010/main" val="2631133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dark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82AB236-DAFD-49F7-BBC2-7E52C86EE7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</p:spPr>
        <p:txBody>
          <a:bodyPr lIns="72000" tIns="72000" rIns="72000" bIns="72000"/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F2E6C-875C-432B-B47A-A9E589B7C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D9EC0-783C-4E03-8B54-EB815AE37D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4768-AEA5-4631-BC4A-8DB3B9447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6D239E5-258B-41CA-ABAF-4A71EA5D0B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0" marR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200">
                <a:solidFill>
                  <a:schemeClr val="bg1"/>
                </a:solidFill>
              </a:defRPr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7" name="meta-classification">
            <a:extLst>
              <a:ext uri="{FF2B5EF4-FFF2-40B4-BE49-F238E27FC236}">
                <a16:creationId xmlns:a16="http://schemas.microsoft.com/office/drawing/2014/main" id="{19C17D38-E07D-4DBA-8A51-4DD4B0A923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bg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</p:spTree>
    <p:extLst>
      <p:ext uri="{BB962C8B-B14F-4D97-AF65-F5344CB8AC3E}">
        <p14:creationId xmlns:p14="http://schemas.microsoft.com/office/powerpoint/2010/main" val="412010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full screen video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DB4843D2-D66C-4483-9BEF-0EA790E357B6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 video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885550-4E65-4CBF-8046-671CF042C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4" name="meta-classification">
            <a:extLst>
              <a:ext uri="{FF2B5EF4-FFF2-40B4-BE49-F238E27FC236}">
                <a16:creationId xmlns:a16="http://schemas.microsoft.com/office/drawing/2014/main" id="{7893F3CA-BCB9-4004-97E6-F5E4DB1FA0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>
              <a:spcAft>
                <a:spcPts val="0"/>
              </a:spcAft>
              <a:defRPr lang="en-US" sz="800" b="1" i="0" u="none" strike="noStrike" cap="all" baseline="0" dirty="0" smtClean="0">
                <a:solidFill>
                  <a:schemeClr val="accent1"/>
                </a:solidFill>
              </a:defRPr>
            </a:lvl1pPr>
          </a:lstStyle>
          <a:p>
            <a:pPr marR="0" lvl="0">
              <a:lnSpc>
                <a:spcPct val="100000"/>
              </a:lnSpc>
            </a:pPr>
            <a:r>
              <a:rPr lang="en-US" dirty="0"/>
              <a:t>Please insert classification HERE</a:t>
            </a:r>
          </a:p>
        </p:txBody>
      </p:sp>
    </p:spTree>
    <p:extLst>
      <p:ext uri="{BB962C8B-B14F-4D97-AF65-F5344CB8AC3E}">
        <p14:creationId xmlns:p14="http://schemas.microsoft.com/office/powerpoint/2010/main" val="63867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ABAA4C-A627-4F72-ADBD-217F33287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74117" y="1963196"/>
            <a:ext cx="5233987" cy="89761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500" i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“This space is reserved for quotes.</a:t>
            </a:r>
            <a:br>
              <a:rPr lang="en-US" dirty="0"/>
            </a:br>
            <a:r>
              <a:rPr lang="en-US" dirty="0"/>
              <a:t>Delivery Italic, 25 pt.”</a:t>
            </a:r>
          </a:p>
        </p:txBody>
      </p:sp>
    </p:spTree>
    <p:extLst>
      <p:ext uri="{BB962C8B-B14F-4D97-AF65-F5344CB8AC3E}">
        <p14:creationId xmlns:p14="http://schemas.microsoft.com/office/powerpoint/2010/main" val="210593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DCF4F-94A3-4ECD-931B-78A92C777558}"/>
              </a:ext>
            </a:extLst>
          </p:cNvPr>
          <p:cNvSpPr txBox="1"/>
          <p:nvPr/>
        </p:nvSpPr>
        <p:spPr>
          <a:xfrm>
            <a:off x="319293" y="1485178"/>
            <a:ext cx="31341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b="0" cap="all" baseline="0" noProof="0" dirty="0">
                <a:solidFill>
                  <a:schemeClr val="accent4"/>
                </a:solidFill>
                <a:latin typeface="Delivery Cd Black" panose="020F09060202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103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856C2E-8F2D-41A0-AE6C-F0526A45A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999" y="4803982"/>
            <a:ext cx="8117532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9B7831-1594-4A3A-AB85-33FDCF3EA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03982"/>
            <a:ext cx="378469" cy="1384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meta-classification">
            <a:extLst>
              <a:ext uri="{FF2B5EF4-FFF2-40B4-BE49-F238E27FC236}">
                <a16:creationId xmlns:a16="http://schemas.microsoft.com/office/drawing/2014/main" id="{CB3C5A58-B5FD-41CE-A3B3-6112D71801CF}"/>
              </a:ext>
            </a:extLst>
          </p:cNvPr>
          <p:cNvSpPr/>
          <p:nvPr/>
        </p:nvSpPr>
        <p:spPr>
          <a:xfrm>
            <a:off x="324000" y="116119"/>
            <a:ext cx="2736000" cy="144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R="0" algn="l" rtl="0">
              <a:lnSpc>
                <a:spcPct val="100000"/>
              </a:lnSpc>
              <a:spcBef>
                <a:spcPts val="0"/>
              </a:spcBef>
            </a:pPr>
            <a:r>
              <a:rPr lang="en-US" sz="800" b="1" i="0" u="none" strike="noStrike" cap="all" baseline="0" dirty="0">
                <a:solidFill>
                  <a:schemeClr val="accent1"/>
                </a:solidFill>
                <a:latin typeface="+mn-lt"/>
              </a:rPr>
              <a:t>Please insert classification HERE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2927099-8B95-48F9-92CE-1BDC9AB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85163"/>
            <a:ext cx="8495999" cy="4939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C690811-42D0-4C98-AC63-A167FF71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99" y="1150938"/>
            <a:ext cx="8495999" cy="3530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Body </a:t>
            </a:r>
            <a:r>
              <a:rPr lang="de-DE" dirty="0" err="1"/>
              <a:t>text</a:t>
            </a:r>
            <a:r>
              <a:rPr lang="de-DE" dirty="0"/>
              <a:t> in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2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4"/>
            <a:r>
              <a:rPr lang="de-DE" dirty="0"/>
              <a:t>Action </a:t>
            </a: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 Regular, 15 </a:t>
            </a:r>
            <a:r>
              <a:rPr lang="de-DE" dirty="0" err="1"/>
              <a:t>pt</a:t>
            </a:r>
            <a:endParaRPr lang="de-DE" dirty="0"/>
          </a:p>
          <a:p>
            <a:pPr lvl="5"/>
            <a:r>
              <a:rPr lang="de-DE" dirty="0"/>
              <a:t>Paragraph Headline, </a:t>
            </a:r>
            <a:r>
              <a:rPr lang="de-DE" dirty="0" err="1"/>
              <a:t>Delivery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6"/>
            <a:r>
              <a:rPr lang="de-DE" dirty="0"/>
              <a:t>Bullet </a:t>
            </a:r>
            <a:r>
              <a:rPr lang="de-DE" dirty="0" err="1"/>
              <a:t>number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D5364-E3C1-89B5-5C83-742040CA8F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747474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844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9" r:id="rId5"/>
    <p:sldLayoutId id="2147483653" r:id="rId6"/>
    <p:sldLayoutId id="2147483654" r:id="rId7"/>
    <p:sldLayoutId id="2147483666" r:id="rId8"/>
    <p:sldLayoutId id="2147483655" r:id="rId9"/>
    <p:sldLayoutId id="2147483656" r:id="rId10"/>
    <p:sldLayoutId id="2147483657" r:id="rId11"/>
    <p:sldLayoutId id="2147483658" r:id="rId12"/>
    <p:sldLayoutId id="2147483670" r:id="rId13"/>
    <p:sldLayoutId id="2147483671" r:id="rId14"/>
    <p:sldLayoutId id="2147483672" r:id="rId15"/>
    <p:sldLayoutId id="2147483661" r:id="rId16"/>
    <p:sldLayoutId id="2147483662" r:id="rId17"/>
    <p:sldLayoutId id="2147483663" r:id="rId18"/>
    <p:sldLayoutId id="2147483668" r:id="rId19"/>
    <p:sldLayoutId id="2147483664" r:id="rId20"/>
    <p:sldLayoutId id="2147483665" r:id="rId2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000" kern="10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6" orient="horz" pos="725" userDrawn="1">
          <p15:clr>
            <a:srgbClr val="F26B43"/>
          </p15:clr>
        </p15:guide>
        <p15:guide id="17" orient="horz" pos="2949" userDrawn="1">
          <p15:clr>
            <a:srgbClr val="F26B43"/>
          </p15:clr>
        </p15:guide>
        <p15:guide id="18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1" descr="A person standing in front of a window&#10;&#10;Description automatically generated">
            <a:extLst>
              <a:ext uri="{FF2B5EF4-FFF2-40B4-BE49-F238E27FC236}">
                <a16:creationId xmlns:a16="http://schemas.microsoft.com/office/drawing/2014/main" id="{A23057B6-22A1-47AF-8813-8C933B9AD60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/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5E7FE53-353E-48F2-8498-F4CD6EAB87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DB4A27F-DC08-4818-8C1C-6A5DD3C609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AB25DF-3A1C-4FD4-8666-EEFB5DDBE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guia</a:t>
            </a:r>
            <a:r>
              <a:rPr lang="en-US" dirty="0"/>
              <a:t> de </a:t>
            </a:r>
            <a:r>
              <a:rPr lang="en-US" dirty="0" err="1"/>
              <a:t>preenchimento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C77E0C-F69A-404F-A4D7-F4E1A40E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formulários</a:t>
            </a:r>
            <a:br>
              <a:rPr lang="en-US" dirty="0"/>
            </a:br>
            <a:r>
              <a:rPr lang="en-US" dirty="0" err="1"/>
              <a:t>aprovação</a:t>
            </a:r>
            <a:r>
              <a:rPr lang="en-US" dirty="0"/>
              <a:t> de </a:t>
            </a:r>
            <a:r>
              <a:rPr lang="en-US" dirty="0" err="1"/>
              <a:t>conta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4CC95D-81BD-496E-838E-C31ED70BC6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706" y="3074754"/>
            <a:ext cx="4644724" cy="400110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622AA6-F8AD-4A9E-9B7D-2CCD26F9B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DHL Express – Excellence. Simply delivered.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7FAC4EB3-60CA-4083-B8A6-C1DADA89B7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251A4-AC42-1000-BA8C-24C32593E3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FOR EXTERNAL USE</a:t>
            </a:r>
          </a:p>
        </p:txBody>
      </p:sp>
    </p:spTree>
    <p:extLst>
      <p:ext uri="{BB962C8B-B14F-4D97-AF65-F5344CB8AC3E}">
        <p14:creationId xmlns:p14="http://schemas.microsoft.com/office/powerpoint/2010/main" val="101718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247EEC-B9A4-451B-AC04-75D8C26B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C86B5-FFBA-4256-BFE1-57E43E9713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655A3FC9-30FA-4A27-9F98-93393205A64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699488789"/>
              </p:ext>
            </p:extLst>
          </p:nvPr>
        </p:nvGraphicFramePr>
        <p:xfrm>
          <a:off x="323850" y="1150938"/>
          <a:ext cx="8496300" cy="3530600"/>
        </p:xfrm>
        <a:graphic>
          <a:graphicData uri="http://schemas.openxmlformats.org/drawingml/2006/table">
            <a:tbl>
              <a:tblPr firstRow="1" bandRow="1">
                <a:tableStyleId>{09810C2D-2C2F-4581-8AFF-CD78C2D722A2}</a:tableStyleId>
              </a:tblPr>
              <a:tblGrid>
                <a:gridCol w="376366">
                  <a:extLst>
                    <a:ext uri="{9D8B030D-6E8A-4147-A177-3AD203B41FA5}">
                      <a16:colId xmlns:a16="http://schemas.microsoft.com/office/drawing/2014/main" val="195205509"/>
                    </a:ext>
                  </a:extLst>
                </a:gridCol>
                <a:gridCol w="6771503">
                  <a:extLst>
                    <a:ext uri="{9D8B030D-6E8A-4147-A177-3AD203B41FA5}">
                      <a16:colId xmlns:a16="http://schemas.microsoft.com/office/drawing/2014/main" val="3668394721"/>
                    </a:ext>
                  </a:extLst>
                </a:gridCol>
                <a:gridCol w="1348431">
                  <a:extLst>
                    <a:ext uri="{9D8B030D-6E8A-4147-A177-3AD203B41FA5}">
                      <a16:colId xmlns:a16="http://schemas.microsoft.com/office/drawing/2014/main" val="634415004"/>
                    </a:ext>
                  </a:extLst>
                </a:gridCol>
              </a:tblGrid>
              <a:tr h="70612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2000" marR="72000" marT="72000" marB="7200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Instruções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Iniciais</a:t>
                      </a:r>
                      <a:endParaRPr lang="en-GB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0" dirty="0">
                          <a:solidFill>
                            <a:schemeClr val="tx1"/>
                          </a:solidFill>
                        </a:rPr>
                        <a:t>3-4;10</a:t>
                      </a:r>
                    </a:p>
                  </a:txBody>
                  <a:tcPr marL="72000" marR="72000" marT="72000" marB="72000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387267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 err="1">
                          <a:solidFill>
                            <a:schemeClr val="tx1"/>
                          </a:solidFill>
                        </a:rPr>
                        <a:t>Preenchimento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 Geral: Dangerous Goods Account Approval Request </a:t>
                      </a:r>
                      <a:br>
                        <a:rPr lang="en-US" sz="15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(TD) Time Definite</a:t>
                      </a:r>
                      <a:endParaRPr lang="en-GB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5-9</a:t>
                      </a: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38596448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 err="1">
                          <a:solidFill>
                            <a:schemeClr val="tx1"/>
                          </a:solidFill>
                        </a:rPr>
                        <a:t>Preenchimento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 Geral: Time Definite Dangerous Goods Authority Letter</a:t>
                      </a:r>
                      <a:endParaRPr lang="en-GB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11-13</a:t>
                      </a: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727171639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Exemplo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Preenchido</a:t>
                      </a:r>
                      <a:r>
                        <a:rPr lang="en-US" sz="1600" dirty="0"/>
                        <a:t>: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BATERIAS DE LÍTIO SEÇÃO II</a:t>
                      </a:r>
                      <a:endParaRPr lang="en-GB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14-15</a:t>
                      </a: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2205282626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Exemplo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Preenchido</a:t>
                      </a:r>
                      <a:r>
                        <a:rPr lang="en-US" sz="1600" dirty="0"/>
                        <a:t>: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DG - LÍQUIDO INFLAMÁVEL [UN1266,III]</a:t>
                      </a:r>
                      <a:endParaRPr lang="en-GB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16-18</a:t>
                      </a: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404303601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A6166EB-9E33-6220-8B6D-3AD0254C339F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</p:spTree>
    <p:extLst>
      <p:ext uri="{BB962C8B-B14F-4D97-AF65-F5344CB8AC3E}">
        <p14:creationId xmlns:p14="http://schemas.microsoft.com/office/powerpoint/2010/main" val="32045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BE864D-546B-B365-006C-657D1465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480" y="1667727"/>
            <a:ext cx="1869414" cy="28174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Instruções</a:t>
            </a:r>
            <a:r>
              <a:rPr lang="en-US" dirty="0"/>
              <a:t> </a:t>
            </a:r>
            <a:r>
              <a:rPr lang="en-US" dirty="0" err="1"/>
              <a:t>Iniciais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948DC-A59B-4A39-BF1E-E43D60D110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4000" y="1073728"/>
            <a:ext cx="8495999" cy="3528000"/>
          </a:xfrm>
        </p:spPr>
        <p:txBody>
          <a:bodyPr/>
          <a:lstStyle/>
          <a:p>
            <a:pPr lvl="4"/>
            <a:r>
              <a:rPr lang="pt-BR" b="1" dirty="0"/>
              <a:t>Para a aprovação da conta, é necessário o preenchimento de dois formulários:</a:t>
            </a:r>
            <a:endParaRPr lang="en-US" b="1" dirty="0"/>
          </a:p>
          <a:p>
            <a:pPr lvl="4"/>
            <a:endParaRPr lang="en-US" dirty="0"/>
          </a:p>
          <a:p>
            <a:pPr lvl="6"/>
            <a:r>
              <a:rPr lang="en-US" dirty="0"/>
              <a:t>Dangerous Goods Account Approval Request – (TD) Time Definite</a:t>
            </a:r>
          </a:p>
          <a:p>
            <a:pPr lvl="6"/>
            <a:r>
              <a:rPr lang="en-US" dirty="0"/>
              <a:t>Time Definite Dangerous Goods Authority Letter</a:t>
            </a:r>
          </a:p>
          <a:p>
            <a:pPr marL="0" lvl="6" indent="0">
              <a:buNone/>
            </a:pPr>
            <a:endParaRPr lang="en-US" dirty="0"/>
          </a:p>
          <a:p>
            <a:pPr lvl="1"/>
            <a:r>
              <a:rPr lang="pt-BR" sz="1000" b="1" i="1" u="sng" dirty="0">
                <a:solidFill>
                  <a:srgbClr val="C00000"/>
                </a:solidFill>
              </a:rPr>
              <a:t>Certifique-se que o produto que deseja transportar conosco é permitido.</a:t>
            </a:r>
          </a:p>
          <a:p>
            <a:pPr lvl="1"/>
            <a:r>
              <a:rPr lang="pt-BR" sz="1000" b="1" i="1" u="sng" dirty="0"/>
              <a:t>Os formulários devem ser preenchidos em inglês. </a:t>
            </a:r>
          </a:p>
          <a:p>
            <a:pPr lvl="1"/>
            <a:r>
              <a:rPr lang="pt-BR" sz="1000" b="1" i="1" u="sng" dirty="0"/>
              <a:t>Preferencialmente, devem ser preenchidos eletronicamente. </a:t>
            </a:r>
          </a:p>
          <a:p>
            <a:pPr lvl="1"/>
            <a:r>
              <a:rPr lang="pt-BR" sz="1000" b="1" i="1" u="sng" dirty="0"/>
              <a:t>Se preenchidos manualmente, a caligrafia deve ser legível, usando letra bastão/forma.</a:t>
            </a:r>
          </a:p>
          <a:p>
            <a:pPr lvl="1"/>
            <a:r>
              <a:rPr lang="pt-BR" sz="1000" b="1" i="1" u="sng" dirty="0"/>
              <a:t>Não serão aceitos formulários que tenham sido alterados em sua estrutura.</a:t>
            </a:r>
          </a:p>
          <a:p>
            <a:pPr lvl="1"/>
            <a:r>
              <a:rPr lang="pt-BR" sz="1000" b="1" i="1" u="sng" dirty="0"/>
              <a:t>Não serão aceitos formulários obsoletos.</a:t>
            </a:r>
          </a:p>
          <a:p>
            <a:pPr lvl="1"/>
            <a:r>
              <a:rPr lang="pt-BR" sz="1000" b="1" i="1" u="sng" dirty="0"/>
              <a:t>Certificado DG IATA não será exigido apenas para as aprovações de:</a:t>
            </a:r>
          </a:p>
          <a:p>
            <a:pPr marL="360000" lvl="1">
              <a:buFont typeface="Delivery" panose="020F0503020204020204" pitchFamily="34" charset="0"/>
              <a:buChar char="−"/>
            </a:pPr>
            <a:r>
              <a:rPr lang="pt-BR" sz="1000" b="1" i="1" u="sng" dirty="0"/>
              <a:t>Baterias de lítio SEC II;</a:t>
            </a:r>
          </a:p>
          <a:p>
            <a:pPr marL="360000" lvl="1">
              <a:buFont typeface="Delivery" panose="020F0503020204020204" pitchFamily="34" charset="0"/>
              <a:buChar char="−"/>
            </a:pPr>
            <a:r>
              <a:rPr lang="pt-BR" sz="1000" b="1" i="1" u="sng" dirty="0"/>
              <a:t>UN3373.</a:t>
            </a:r>
          </a:p>
          <a:p>
            <a:pPr lvl="1" indent="0">
              <a:buNone/>
            </a:pPr>
            <a:r>
              <a:rPr lang="pt-BR" sz="900" i="1" dirty="0"/>
              <a:t>       Nota: No Slide 9, é apresentado o conceito de baterias de lítio SEC II e UN3373</a:t>
            </a:r>
            <a:endParaRPr lang="en-US" i="1" u="sng" dirty="0"/>
          </a:p>
          <a:p>
            <a:pPr lvl="6"/>
            <a:endParaRPr lang="en-US" dirty="0"/>
          </a:p>
          <a:p>
            <a:pPr marL="0" lvl="6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42145A-EC3F-4202-01E3-D7133D656571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87D70-E88B-6834-638A-A91B48B4555D}"/>
              </a:ext>
            </a:extLst>
          </p:cNvPr>
          <p:cNvSpPr txBox="1"/>
          <p:nvPr/>
        </p:nvSpPr>
        <p:spPr>
          <a:xfrm>
            <a:off x="-492437" y="1289582"/>
            <a:ext cx="8010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pt-BR" sz="1050" b="1" i="1" u="sng" dirty="0"/>
              <a:t>Comercial</a:t>
            </a:r>
            <a:r>
              <a:rPr lang="pt-BR" sz="1050" i="1" u="sng" dirty="0"/>
              <a:t>, por favor, assegure-se de sempre encaminhar ao cliente as versões atualizadas disponíveis no SharePoint.</a:t>
            </a:r>
            <a:endParaRPr lang="en-US" sz="1050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555C0-EE1F-D9DE-149C-273A8DFAA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42105">
            <a:off x="6699672" y="1775995"/>
            <a:ext cx="1863172" cy="27888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846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40" y="393631"/>
            <a:ext cx="8495999" cy="493950"/>
          </a:xfrm>
        </p:spPr>
        <p:txBody>
          <a:bodyPr/>
          <a:lstStyle/>
          <a:p>
            <a:r>
              <a:rPr lang="en-US" dirty="0" err="1"/>
              <a:t>Formulário</a:t>
            </a:r>
            <a:r>
              <a:rPr lang="en-US" dirty="0"/>
              <a:t> 1: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948DC-A59B-4A39-BF1E-E43D60D110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4766" y="1071834"/>
            <a:ext cx="8495999" cy="3528000"/>
          </a:xfrm>
        </p:spPr>
        <p:txBody>
          <a:bodyPr/>
          <a:lstStyle/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marL="0" lvl="6" indent="0">
              <a:buNone/>
            </a:pPr>
            <a:r>
              <a:rPr lang="en-US" sz="1400" b="1" dirty="0">
                <a:solidFill>
                  <a:srgbClr val="1A9CFC"/>
                </a:solidFill>
              </a:rPr>
              <a:t>1. Dangerous Goods Account Approval Request – (TD) Time Definite</a:t>
            </a:r>
          </a:p>
          <a:p>
            <a:pPr marL="0" lvl="6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2. Time Definite Dangerous Goods Authority Letter</a:t>
            </a:r>
          </a:p>
          <a:p>
            <a:pPr lvl="6"/>
            <a:endParaRPr lang="en-US" dirty="0"/>
          </a:p>
          <a:p>
            <a:pPr lvl="6"/>
            <a:endParaRPr lang="en-US" dirty="0"/>
          </a:p>
          <a:p>
            <a:pPr marL="0" lvl="6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42145A-EC3F-4202-01E3-D7133D656571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C4720C-C3C2-5214-CD83-8B3FE1AB2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2105">
            <a:off x="6768275" y="1344853"/>
            <a:ext cx="1863172" cy="26952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CBF3F7-BF79-BE03-BFF9-9D199C64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80" y="1667727"/>
            <a:ext cx="1869414" cy="28174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0595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CCD91E2-5120-8E60-B326-E0CE58EBE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0" y="2893730"/>
            <a:ext cx="4511833" cy="1313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FE5DB3-A73F-C9FD-21FA-D395EF55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747" y="1496447"/>
            <a:ext cx="3880050" cy="669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Dangerous Goods Account Approval Request </a:t>
            </a:r>
            <a:br>
              <a:rPr lang="en-US" dirty="0"/>
            </a:br>
            <a:r>
              <a:rPr lang="en-US" dirty="0"/>
              <a:t>(TD) Time Definite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116E6-C471-1314-203D-84D5D07867D4}"/>
              </a:ext>
            </a:extLst>
          </p:cNvPr>
          <p:cNvSpPr txBox="1"/>
          <p:nvPr/>
        </p:nvSpPr>
        <p:spPr>
          <a:xfrm>
            <a:off x="145143" y="2148666"/>
            <a:ext cx="1722198" cy="18195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1) </a:t>
            </a:r>
            <a:r>
              <a:rPr lang="pt-BR" sz="900" b="1" dirty="0">
                <a:solidFill>
                  <a:srgbClr val="FF0000"/>
                </a:solidFill>
              </a:rPr>
              <a:t>INCLUA A CONTA (SHIPPER ACCOUNT) DE EXPORTAÇÃO EM </a:t>
            </a:r>
            <a:r>
              <a:rPr lang="pt-BR" sz="900" b="1" dirty="0">
                <a:solidFill>
                  <a:schemeClr val="tx1"/>
                </a:solidFill>
              </a:rPr>
              <a:t>“EXPORT Account Number(s)”</a:t>
            </a:r>
          </a:p>
          <a:p>
            <a:pPr algn="ctr"/>
            <a:r>
              <a:rPr lang="pt-BR" sz="900" dirty="0">
                <a:solidFill>
                  <a:schemeClr val="tx1"/>
                </a:solidFill>
              </a:rPr>
              <a:t>e/ou </a:t>
            </a:r>
            <a:r>
              <a:rPr lang="pt-BR" sz="900" b="1" dirty="0">
                <a:solidFill>
                  <a:srgbClr val="FF0000"/>
                </a:solidFill>
              </a:rPr>
              <a:t>INCLUIR A CONTA (SHIPPER ACCOUNT) DE IMPORTAÇÃO EM </a:t>
            </a:r>
            <a:r>
              <a:rPr lang="pt-BR" sz="900" b="1" dirty="0">
                <a:solidFill>
                  <a:schemeClr val="tx1"/>
                </a:solidFill>
              </a:rPr>
              <a:t>“IMPORT Account Number(s)”</a:t>
            </a:r>
            <a:r>
              <a:rPr lang="pt-BR" sz="900" b="1" dirty="0">
                <a:solidFill>
                  <a:srgbClr val="FF0000"/>
                </a:solidFill>
              </a:rPr>
              <a:t> .</a:t>
            </a:r>
          </a:p>
          <a:p>
            <a:pPr algn="ctr"/>
            <a:endParaRPr lang="pt-BR" sz="400" b="1" dirty="0">
              <a:solidFill>
                <a:srgbClr val="FF0000"/>
              </a:solidFill>
            </a:endParaRP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Nota: NÃO inserir a mesma conta nos dois campos. Certifique-se de colocar a conta no campo correto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FC7476-435D-079D-8BE6-E21CC1DC1873}"/>
              </a:ext>
            </a:extLst>
          </p:cNvPr>
          <p:cNvSpPr/>
          <p:nvPr/>
        </p:nvSpPr>
        <p:spPr>
          <a:xfrm>
            <a:off x="1789998" y="1455158"/>
            <a:ext cx="4756282" cy="7502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4C400B-6741-C2A4-9A42-5BF03A04A6C0}"/>
              </a:ext>
            </a:extLst>
          </p:cNvPr>
          <p:cNvCxnSpPr>
            <a:cxnSpLocks/>
            <a:stCxn id="18" idx="3"/>
            <a:endCxn id="17" idx="3"/>
          </p:cNvCxnSpPr>
          <p:nvPr/>
        </p:nvCxnSpPr>
        <p:spPr>
          <a:xfrm flipH="1">
            <a:off x="1867341" y="2095501"/>
            <a:ext cx="619198" cy="962954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000499A-98F4-C547-2D93-39DB618C7323}"/>
              </a:ext>
            </a:extLst>
          </p:cNvPr>
          <p:cNvSpPr/>
          <p:nvPr/>
        </p:nvSpPr>
        <p:spPr>
          <a:xfrm>
            <a:off x="1947121" y="2637868"/>
            <a:ext cx="4904954" cy="17793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C64EE2-F1F1-7106-9180-399B91384DC3}"/>
              </a:ext>
            </a:extLst>
          </p:cNvPr>
          <p:cNvSpPr txBox="1"/>
          <p:nvPr/>
        </p:nvSpPr>
        <p:spPr>
          <a:xfrm>
            <a:off x="7046686" y="1291569"/>
            <a:ext cx="1879600" cy="17668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2) </a:t>
            </a:r>
            <a:r>
              <a:rPr lang="pt-BR" sz="900" b="1" dirty="0">
                <a:solidFill>
                  <a:srgbClr val="FF0000"/>
                </a:solidFill>
              </a:rPr>
              <a:t>INFORME O NOME COMPLETO DA EMPRESA em </a:t>
            </a:r>
            <a:r>
              <a:rPr lang="pt-BR" sz="900" b="1" dirty="0">
                <a:solidFill>
                  <a:schemeClr val="tx1"/>
                </a:solidFill>
              </a:rPr>
              <a:t>“Company Name”; </a:t>
            </a:r>
            <a:r>
              <a:rPr lang="pt-BR" sz="900" b="1" dirty="0">
                <a:solidFill>
                  <a:srgbClr val="FF0000"/>
                </a:solidFill>
              </a:rPr>
              <a:t>O ENDEREÇO (RUA + N°+ BAIRRO) em </a:t>
            </a:r>
            <a:r>
              <a:rPr lang="pt-BR" sz="900" b="1" dirty="0">
                <a:solidFill>
                  <a:schemeClr val="tx1"/>
                </a:solidFill>
              </a:rPr>
              <a:t>“Full Address”; </a:t>
            </a:r>
            <a:r>
              <a:rPr lang="pt-BR" sz="900" b="1" dirty="0">
                <a:solidFill>
                  <a:srgbClr val="FF0000"/>
                </a:solidFill>
              </a:rPr>
              <a:t>CIDADE em </a:t>
            </a:r>
            <a:r>
              <a:rPr lang="pt-BR" sz="900" b="1" dirty="0">
                <a:solidFill>
                  <a:schemeClr val="tx1"/>
                </a:solidFill>
              </a:rPr>
              <a:t>“City”; </a:t>
            </a:r>
            <a:r>
              <a:rPr lang="pt-BR" sz="900" b="1" dirty="0">
                <a:solidFill>
                  <a:srgbClr val="FF0000"/>
                </a:solidFill>
              </a:rPr>
              <a:t>ESTADO em </a:t>
            </a:r>
            <a:r>
              <a:rPr lang="pt-BR" sz="900" b="1" dirty="0">
                <a:solidFill>
                  <a:schemeClr val="tx1"/>
                </a:solidFill>
              </a:rPr>
              <a:t>“State”; </a:t>
            </a:r>
            <a:r>
              <a:rPr lang="pt-BR" sz="900" b="1" dirty="0">
                <a:solidFill>
                  <a:srgbClr val="FF0000"/>
                </a:solidFill>
              </a:rPr>
              <a:t>CEP em </a:t>
            </a:r>
            <a:r>
              <a:rPr lang="pt-BR" sz="900" b="1" dirty="0">
                <a:solidFill>
                  <a:schemeClr val="tx1"/>
                </a:solidFill>
              </a:rPr>
              <a:t>“Postal Code”; </a:t>
            </a:r>
            <a:r>
              <a:rPr lang="pt-BR" sz="900" b="1" dirty="0">
                <a:solidFill>
                  <a:srgbClr val="FF0000"/>
                </a:solidFill>
              </a:rPr>
              <a:t>e O PAÍS em </a:t>
            </a:r>
            <a:r>
              <a:rPr lang="pt-BR" sz="900" b="1" dirty="0">
                <a:solidFill>
                  <a:schemeClr val="tx1"/>
                </a:solidFill>
              </a:rPr>
              <a:t>“Country”. </a:t>
            </a:r>
            <a:r>
              <a:rPr lang="pt-BR" sz="800" b="1" dirty="0">
                <a:solidFill>
                  <a:srgbClr val="FF0000"/>
                </a:solidFill>
              </a:rPr>
              <a:t>INSIRA O </a:t>
            </a:r>
            <a:r>
              <a:rPr lang="pt-BR" sz="800" b="1" dirty="0">
                <a:solidFill>
                  <a:schemeClr val="tx1"/>
                </a:solidFill>
              </a:rPr>
              <a:t>NOME E SOBRENOME</a:t>
            </a:r>
            <a:r>
              <a:rPr lang="pt-BR" sz="800" b="1" dirty="0">
                <a:solidFill>
                  <a:srgbClr val="FF0000"/>
                </a:solidFill>
              </a:rPr>
              <a:t>, em </a:t>
            </a:r>
            <a:r>
              <a:rPr lang="pt-BR" sz="800" b="1" dirty="0">
                <a:solidFill>
                  <a:schemeClr val="tx1"/>
                </a:solidFill>
              </a:rPr>
              <a:t>“Emergency Contact Name”, </a:t>
            </a:r>
            <a:r>
              <a:rPr lang="pt-BR" sz="800" b="1" dirty="0">
                <a:solidFill>
                  <a:srgbClr val="FF0000"/>
                </a:solidFill>
              </a:rPr>
              <a:t>O </a:t>
            </a:r>
            <a:r>
              <a:rPr lang="pt-BR" sz="800" b="1" dirty="0">
                <a:solidFill>
                  <a:schemeClr val="accent4"/>
                </a:solidFill>
              </a:rPr>
              <a:t>EMAIL</a:t>
            </a:r>
            <a:r>
              <a:rPr lang="pt-BR" sz="800" b="1" dirty="0">
                <a:solidFill>
                  <a:srgbClr val="FF0000"/>
                </a:solidFill>
              </a:rPr>
              <a:t> E O </a:t>
            </a:r>
            <a:r>
              <a:rPr lang="pt-BR" sz="800" b="1" dirty="0">
                <a:solidFill>
                  <a:schemeClr val="accent4"/>
                </a:solidFill>
              </a:rPr>
              <a:t>TELEFONE NOS CAMPOS </a:t>
            </a:r>
            <a:r>
              <a:rPr lang="pt-BR" sz="800" b="1" dirty="0">
                <a:solidFill>
                  <a:schemeClr val="tx1"/>
                </a:solidFill>
              </a:rPr>
              <a:t>“Email” </a:t>
            </a:r>
            <a:r>
              <a:rPr lang="pt-BR" sz="800" b="1" dirty="0">
                <a:solidFill>
                  <a:schemeClr val="accent4"/>
                </a:solidFill>
              </a:rPr>
              <a:t>E</a:t>
            </a:r>
            <a:r>
              <a:rPr lang="pt-BR" sz="800" b="1" dirty="0">
                <a:solidFill>
                  <a:schemeClr val="tx1"/>
                </a:solidFill>
              </a:rPr>
              <a:t> “Phone”, </a:t>
            </a:r>
            <a:r>
              <a:rPr lang="pt-BR" sz="800" b="1" dirty="0">
                <a:solidFill>
                  <a:schemeClr val="accent4"/>
                </a:solidFill>
              </a:rPr>
              <a:t>RESPECTIVAMENTE.</a:t>
            </a:r>
            <a:endParaRPr lang="pt-BR" sz="800" i="1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75DA3D-D2DF-483D-4BDE-24F509FE8828}"/>
              </a:ext>
            </a:extLst>
          </p:cNvPr>
          <p:cNvCxnSpPr>
            <a:cxnSpLocks/>
            <a:stCxn id="24" idx="7"/>
            <a:endCxn id="26" idx="1"/>
          </p:cNvCxnSpPr>
          <p:nvPr/>
        </p:nvCxnSpPr>
        <p:spPr>
          <a:xfrm flipV="1">
            <a:off x="6133761" y="2175012"/>
            <a:ext cx="912925" cy="723437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57DEFF-F4A6-BB6E-B8B8-264151DDB37D}"/>
              </a:ext>
            </a:extLst>
          </p:cNvPr>
          <p:cNvSpPr txBox="1"/>
          <p:nvPr/>
        </p:nvSpPr>
        <p:spPr>
          <a:xfrm>
            <a:off x="-110145" y="462770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>
              <a:buClr>
                <a:schemeClr val="accent4"/>
              </a:buClr>
            </a:pPr>
            <a:endParaRPr lang="pt-BR" sz="900" b="1" dirty="0"/>
          </a:p>
          <a:p>
            <a:pPr marL="0" lvl="3" algn="ctr">
              <a:buClr>
                <a:schemeClr val="accent4"/>
              </a:buClr>
            </a:pPr>
            <a:r>
              <a:rPr lang="pt-BR" sz="900" b="1" dirty="0"/>
              <a:t>PARA REMESSAS QUE EXIJAM SHIPPER’S DECLARATION, É OBRIGATÓRIO UTILIZAR/APROVAR UMA CONTA DE </a:t>
            </a:r>
            <a:r>
              <a:rPr lang="pt-BR" sz="900" b="1" dirty="0">
                <a:solidFill>
                  <a:srgbClr val="1A9CFC"/>
                </a:solidFill>
              </a:rPr>
              <a:t>EXPORTAÇÃO</a:t>
            </a:r>
            <a:r>
              <a:rPr lang="pt-BR" sz="900" b="1" dirty="0"/>
              <a:t>.</a:t>
            </a:r>
            <a:endParaRPr lang="en-US" sz="9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EE3BF4-BFCD-C0C1-2EEE-51C0D7FC1692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FF1999-82EB-31E0-57F8-E9EEEB45A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171" y="107366"/>
            <a:ext cx="631958" cy="9456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7980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Dangerous Goods Account Approval Request </a:t>
            </a:r>
            <a:br>
              <a:rPr lang="en-US" dirty="0"/>
            </a:br>
            <a:r>
              <a:rPr lang="en-US" dirty="0"/>
              <a:t>(TD) Time Definite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116E6-C471-1314-203D-84D5D07867D4}"/>
              </a:ext>
            </a:extLst>
          </p:cNvPr>
          <p:cNvSpPr txBox="1"/>
          <p:nvPr/>
        </p:nvSpPr>
        <p:spPr>
          <a:xfrm>
            <a:off x="323998" y="1740478"/>
            <a:ext cx="1879600" cy="12703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3) </a:t>
            </a:r>
            <a:r>
              <a:rPr lang="pt-BR" sz="900" b="1" dirty="0">
                <a:solidFill>
                  <a:srgbClr val="FF0000"/>
                </a:solidFill>
              </a:rPr>
              <a:t>SELECIONE O PRODUTO QUE DESEJA A APROVAÇÃO DE CONTA.</a:t>
            </a:r>
          </a:p>
          <a:p>
            <a:pPr algn="ctr"/>
            <a:endParaRPr lang="pt-BR" sz="900" b="1" i="1" dirty="0">
              <a:solidFill>
                <a:srgbClr val="FF0000"/>
              </a:solidFill>
            </a:endParaRP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Nota: Verificar abaixo qual opção deverá selecionar, a depender do produto que deseja transportar. Caso mais de um produto seja aplicável, selecionar mais de uma opção.</a:t>
            </a:r>
            <a:endParaRPr lang="pt-BR" sz="700" i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9B5070-EF42-51F2-3712-8F09631E14CA}"/>
              </a:ext>
            </a:extLst>
          </p:cNvPr>
          <p:cNvCxnSpPr>
            <a:cxnSpLocks/>
            <a:stCxn id="7" idx="1"/>
            <a:endCxn id="17" idx="3"/>
          </p:cNvCxnSpPr>
          <p:nvPr/>
        </p:nvCxnSpPr>
        <p:spPr>
          <a:xfrm flipH="1">
            <a:off x="2203598" y="2311496"/>
            <a:ext cx="985813" cy="64165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70B0805-88EC-54C6-84D7-F39ADB0C7CBF}"/>
              </a:ext>
            </a:extLst>
          </p:cNvPr>
          <p:cNvSpPr txBox="1"/>
          <p:nvPr/>
        </p:nvSpPr>
        <p:spPr>
          <a:xfrm>
            <a:off x="377371" y="3726798"/>
            <a:ext cx="8229600" cy="12703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pt-BR" sz="1000" dirty="0"/>
              <a:t>Para </a:t>
            </a:r>
            <a:r>
              <a:rPr lang="pt-BR" sz="1000" b="1" i="1" dirty="0"/>
              <a:t>baterias de lítio acopladas/ acompanhadas </a:t>
            </a:r>
            <a:r>
              <a:rPr lang="pt-BR" sz="1000" b="1" i="1" dirty="0">
                <a:solidFill>
                  <a:srgbClr val="0000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(seção II)</a:t>
            </a:r>
            <a:r>
              <a:rPr lang="pt-BR" sz="1000" b="1" i="1" dirty="0">
                <a:solidFill>
                  <a:srgbClr val="666666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pt-BR" sz="1000" b="1" dirty="0">
                <a:solidFill>
                  <a:srgbClr val="1A9CFC"/>
                </a:solidFill>
              </a:rPr>
              <a:t>SELECIONE</a:t>
            </a:r>
            <a:r>
              <a:rPr lang="pt-BR" sz="1000" dirty="0"/>
              <a:t>  </a:t>
            </a:r>
            <a:r>
              <a:rPr lang="en-US" sz="1000" b="1" dirty="0">
                <a:solidFill>
                  <a:schemeClr val="accent4"/>
                </a:solidFill>
              </a:rPr>
              <a:t>HD, HM, HV, HW </a:t>
            </a:r>
            <a:r>
              <a:rPr lang="en-US" sz="1000" dirty="0"/>
              <a:t>- Lithium Batteries complying […]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 err="1"/>
              <a:t>baterias</a:t>
            </a:r>
            <a:r>
              <a:rPr lang="en-US" sz="1000" b="1" i="1" dirty="0"/>
              <a:t> de </a:t>
            </a:r>
            <a:r>
              <a:rPr lang="en-US" sz="1000" b="1" i="1" dirty="0" err="1"/>
              <a:t>lítio</a:t>
            </a:r>
            <a:r>
              <a:rPr lang="en-US" sz="1000" b="1" i="1" dirty="0"/>
              <a:t> </a:t>
            </a:r>
            <a:r>
              <a:rPr lang="en-US" sz="1000" b="1" i="1" dirty="0" err="1"/>
              <a:t>soltas</a:t>
            </a:r>
            <a:r>
              <a:rPr lang="en-US" sz="1000" b="1" i="1" dirty="0"/>
              <a:t> 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 </a:t>
            </a:r>
            <a:r>
              <a:rPr lang="en-US" sz="1000" b="1" dirty="0">
                <a:solidFill>
                  <a:schemeClr val="accent4"/>
                </a:solidFill>
              </a:rPr>
              <a:t>HE </a:t>
            </a:r>
            <a:r>
              <a:rPr lang="en-US" sz="1000" dirty="0"/>
              <a:t>- Lithium Batteries Section IB + </a:t>
            </a:r>
            <a:r>
              <a:rPr lang="en-US" sz="1000" b="1" dirty="0">
                <a:solidFill>
                  <a:schemeClr val="accent4"/>
                </a:solidFill>
              </a:rPr>
              <a:t>HE, HK </a:t>
            </a:r>
            <a:r>
              <a:rPr lang="en-US" sz="1000" dirty="0"/>
              <a:t>– Dangerous Goods requiring […]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 err="1"/>
              <a:t>substâncias</a:t>
            </a:r>
            <a:r>
              <a:rPr lang="en-US" sz="1000" b="1" i="1" dirty="0"/>
              <a:t> </a:t>
            </a:r>
            <a:r>
              <a:rPr lang="en-US" sz="1000" b="1" i="1" dirty="0" err="1"/>
              <a:t>biológicas</a:t>
            </a:r>
            <a:r>
              <a:rPr lang="en-US" sz="1000" b="1" i="1" dirty="0"/>
              <a:t>, </a:t>
            </a:r>
            <a:r>
              <a:rPr lang="en-US" sz="1000" b="1" i="1" dirty="0" err="1"/>
              <a:t>categoria</a:t>
            </a:r>
            <a:r>
              <a:rPr lang="en-US" sz="1000" b="1" i="1" dirty="0"/>
              <a:t> B (UN3373) 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 </a:t>
            </a:r>
            <a:r>
              <a:rPr lang="en-US" sz="1000" b="1" dirty="0">
                <a:solidFill>
                  <a:schemeClr val="accent4"/>
                </a:solidFill>
              </a:rPr>
              <a:t>HY</a:t>
            </a:r>
            <a:r>
              <a:rPr lang="en-US" sz="1000" dirty="0"/>
              <a:t> - </a:t>
            </a:r>
            <a:r>
              <a:rPr lang="en-US" sz="1000" b="1" dirty="0">
                <a:solidFill>
                  <a:schemeClr val="accent4"/>
                </a:solidFill>
              </a:rPr>
              <a:t>UN3373</a:t>
            </a:r>
            <a:r>
              <a:rPr lang="en-US" sz="1000" dirty="0"/>
              <a:t> Biological Substance, Category B.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 err="1"/>
              <a:t>gelo</a:t>
            </a:r>
            <a:r>
              <a:rPr lang="en-US" sz="1000" b="1" i="1" dirty="0"/>
              <a:t> Seco 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 </a:t>
            </a:r>
            <a:r>
              <a:rPr lang="fr-FR" sz="1000" b="1" dirty="0">
                <a:solidFill>
                  <a:schemeClr val="accent4"/>
                </a:solidFill>
              </a:rPr>
              <a:t>HC</a:t>
            </a:r>
            <a:r>
              <a:rPr lang="fr-FR" sz="1000" dirty="0"/>
              <a:t> - UN1845 Dry Ice / Carbon </a:t>
            </a:r>
            <a:r>
              <a:rPr lang="fr-FR" sz="1000" dirty="0" err="1"/>
              <a:t>Dioxide</a:t>
            </a:r>
            <a:r>
              <a:rPr lang="fr-FR" sz="1000" dirty="0"/>
              <a:t>, </a:t>
            </a:r>
            <a:r>
              <a:rPr lang="fr-FR" sz="1000" dirty="0" err="1"/>
              <a:t>solid</a:t>
            </a:r>
            <a:r>
              <a:rPr lang="fr-FR" sz="1000" dirty="0"/>
              <a:t>.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pt-BR" sz="1000" dirty="0"/>
              <a:t>Para </a:t>
            </a:r>
            <a:r>
              <a:rPr lang="pt-BR" sz="1000" b="1" i="1" dirty="0"/>
              <a:t>cargas perigosas em quantidade excetuada/ isenta </a:t>
            </a:r>
            <a:r>
              <a:rPr lang="pt-BR" sz="1000" dirty="0"/>
              <a:t>– </a:t>
            </a:r>
            <a:r>
              <a:rPr lang="pt-BR" sz="1000" b="1" dirty="0">
                <a:solidFill>
                  <a:srgbClr val="1A9CFC"/>
                </a:solidFill>
              </a:rPr>
              <a:t>SELECIONE</a:t>
            </a:r>
            <a:r>
              <a:rPr lang="pt-BR" sz="1000" dirty="0"/>
              <a:t>  </a:t>
            </a:r>
            <a:r>
              <a:rPr lang="en-US" sz="1000" b="1" dirty="0">
                <a:solidFill>
                  <a:schemeClr val="accent4"/>
                </a:solidFill>
              </a:rPr>
              <a:t>HH  </a:t>
            </a:r>
            <a:r>
              <a:rPr lang="en-US" sz="1000" dirty="0"/>
              <a:t>Dangerous Goods in “Excepted Quantities.”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 err="1"/>
              <a:t>microorganismos</a:t>
            </a:r>
            <a:r>
              <a:rPr lang="en-US" sz="1000" b="1" i="1" dirty="0"/>
              <a:t> </a:t>
            </a:r>
            <a:r>
              <a:rPr lang="en-US" sz="1000" b="1" i="1" dirty="0" err="1"/>
              <a:t>geneticamente</a:t>
            </a:r>
            <a:r>
              <a:rPr lang="en-US" sz="1000" b="1" i="1" dirty="0"/>
              <a:t> </a:t>
            </a:r>
            <a:r>
              <a:rPr lang="en-US" sz="1000" b="1" i="1" dirty="0" err="1"/>
              <a:t>modificados</a:t>
            </a:r>
            <a:r>
              <a:rPr lang="en-US" sz="1000" b="1" i="1" dirty="0"/>
              <a:t> (UN3245) </a:t>
            </a:r>
            <a:r>
              <a:rPr lang="en-US" sz="1000" dirty="0"/>
              <a:t>–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 </a:t>
            </a:r>
            <a:r>
              <a:rPr lang="en-US" sz="1000" b="1" dirty="0">
                <a:solidFill>
                  <a:schemeClr val="accent4"/>
                </a:solidFill>
              </a:rPr>
              <a:t>HY</a:t>
            </a:r>
            <a:r>
              <a:rPr lang="en-US" sz="1000" dirty="0"/>
              <a:t>  UN3245 Genetically Modified […]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/>
              <a:t>perfumes</a:t>
            </a:r>
            <a:r>
              <a:rPr lang="en-US" sz="1000" dirty="0"/>
              <a:t> –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</a:t>
            </a:r>
            <a:r>
              <a:rPr lang="en-US" sz="1000" b="1" dirty="0">
                <a:solidFill>
                  <a:schemeClr val="accent4"/>
                </a:solidFill>
              </a:rPr>
              <a:t>HE, HK </a:t>
            </a:r>
            <a:r>
              <a:rPr lang="en-US" sz="1000" dirty="0"/>
              <a:t>Dangerous Goods requiring a shippers declaration […]</a:t>
            </a:r>
          </a:p>
          <a:p>
            <a:pPr marL="0" lvl="3" algn="just">
              <a:buClr>
                <a:schemeClr val="accent4"/>
              </a:buClr>
              <a:buFont typeface="Symbol" panose="05050102010706020507" pitchFamily="18" charset="2"/>
              <a:buChar char="-"/>
            </a:pPr>
            <a:r>
              <a:rPr lang="en-US" sz="1000" dirty="0"/>
              <a:t>Para </a:t>
            </a:r>
            <a:r>
              <a:rPr lang="en-US" sz="1000" b="1" i="1" dirty="0" err="1"/>
              <a:t>qualquer</a:t>
            </a:r>
            <a:r>
              <a:rPr lang="en-US" sz="1000" b="1" i="1" dirty="0"/>
              <a:t> outro </a:t>
            </a:r>
            <a:r>
              <a:rPr lang="en-US" sz="1000" b="1" i="1" dirty="0" err="1"/>
              <a:t>tipo</a:t>
            </a:r>
            <a:r>
              <a:rPr lang="en-US" sz="1000" b="1" i="1" dirty="0"/>
              <a:t> de carga </a:t>
            </a:r>
            <a:r>
              <a:rPr lang="en-US" sz="1000" b="1" i="1" dirty="0" err="1"/>
              <a:t>perigosa</a:t>
            </a:r>
            <a:r>
              <a:rPr lang="en-US" sz="1000" b="1" i="1" dirty="0"/>
              <a:t> que NÃO </a:t>
            </a:r>
            <a:r>
              <a:rPr lang="en-US" sz="1000" b="1" i="1" dirty="0" err="1"/>
              <a:t>esteja</a:t>
            </a:r>
            <a:r>
              <a:rPr lang="en-US" sz="1000" b="1" i="1" dirty="0"/>
              <a:t> </a:t>
            </a:r>
            <a:r>
              <a:rPr lang="en-US" sz="1000" b="1" i="1" dirty="0" err="1"/>
              <a:t>contemplado</a:t>
            </a:r>
            <a:r>
              <a:rPr lang="en-US" sz="1000" b="1" i="1" dirty="0"/>
              <a:t> </a:t>
            </a:r>
            <a:r>
              <a:rPr lang="en-US" sz="1000" b="1" i="1" dirty="0" err="1"/>
              <a:t>na</a:t>
            </a:r>
            <a:r>
              <a:rPr lang="en-US" sz="1000" b="1" i="1" dirty="0"/>
              <a:t> </a:t>
            </a:r>
            <a:r>
              <a:rPr lang="en-US" sz="1000" b="1" i="1" dirty="0" err="1"/>
              <a:t>relação</a:t>
            </a:r>
            <a:r>
              <a:rPr lang="en-US" sz="1000" b="1" i="1" dirty="0"/>
              <a:t> </a:t>
            </a:r>
            <a:r>
              <a:rPr lang="en-US" sz="1000" b="1" i="1" dirty="0" err="1"/>
              <a:t>acima</a:t>
            </a:r>
            <a:r>
              <a:rPr lang="en-US" sz="1000" b="1" i="1" dirty="0"/>
              <a:t> 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1A9CFC"/>
                </a:solidFill>
              </a:rPr>
              <a:t>SELECIONE</a:t>
            </a:r>
            <a:r>
              <a:rPr lang="en-US" sz="1000" dirty="0"/>
              <a:t> </a:t>
            </a:r>
            <a:r>
              <a:rPr lang="en-US" sz="1000" b="1" dirty="0">
                <a:solidFill>
                  <a:schemeClr val="accent4"/>
                </a:solidFill>
              </a:rPr>
              <a:t>HE, HK </a:t>
            </a:r>
            <a:r>
              <a:rPr lang="en-US" sz="1000" dirty="0"/>
              <a:t>– Dangerous Goods requiring […]</a:t>
            </a:r>
            <a:endParaRPr lang="pt-BR" sz="1000" dirty="0" err="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4FE552-1099-1928-0038-4BAADB4F72F7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61360-3A62-5B27-70E2-1EB4286C7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71" y="107366"/>
            <a:ext cx="631958" cy="9456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824EE3-33EA-8799-2B06-81533A288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411" y="1275469"/>
            <a:ext cx="4247709" cy="207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0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53EBB9-F166-9CD2-50EA-0517C7838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84" y="2061021"/>
            <a:ext cx="4944956" cy="8388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Dangerous Goods Account Approval Request </a:t>
            </a:r>
            <a:br>
              <a:rPr lang="en-US" dirty="0"/>
            </a:br>
            <a:r>
              <a:rPr lang="en-US" dirty="0"/>
              <a:t>(TD) Time Definite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B02FF-9C86-EB9C-6923-9DCB32AF6A3E}"/>
              </a:ext>
            </a:extLst>
          </p:cNvPr>
          <p:cNvSpPr txBox="1"/>
          <p:nvPr/>
        </p:nvSpPr>
        <p:spPr>
          <a:xfrm>
            <a:off x="7360508" y="2721802"/>
            <a:ext cx="1638131" cy="10045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4) </a:t>
            </a:r>
            <a:r>
              <a:rPr lang="pt-BR" sz="900" b="1" dirty="0">
                <a:solidFill>
                  <a:srgbClr val="FF0000"/>
                </a:solidFill>
              </a:rPr>
              <a:t>MARQUE ESTA OPÇÃO. </a:t>
            </a:r>
            <a:r>
              <a:rPr lang="pt-BR" sz="900" b="1" dirty="0">
                <a:solidFill>
                  <a:schemeClr val="tx1"/>
                </a:solidFill>
              </a:rPr>
              <a:t>QUANDO SUA CONTA FOR APROVADA</a:t>
            </a:r>
            <a:r>
              <a:rPr lang="pt-BR" sz="900" b="1" dirty="0">
                <a:solidFill>
                  <a:srgbClr val="FF0000"/>
                </a:solidFill>
              </a:rPr>
              <a:t>, VOCÊ IRÁ RECEBER O INSTRUTIVO DE COMO REALIZAR ESSE PROCEDIMENTO NO MYDHL+</a:t>
            </a:r>
          </a:p>
          <a:p>
            <a:pPr algn="ctr"/>
            <a:endParaRPr lang="pt-BR" sz="500" b="1" dirty="0">
              <a:solidFill>
                <a:srgbClr val="FF00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389B94-A461-C8C1-1623-4A79B384F879}"/>
              </a:ext>
            </a:extLst>
          </p:cNvPr>
          <p:cNvSpPr/>
          <p:nvPr/>
        </p:nvSpPr>
        <p:spPr>
          <a:xfrm>
            <a:off x="964426" y="2315625"/>
            <a:ext cx="5337314" cy="65384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DE35B2-C681-02AB-A61B-1E13A66BEE06}"/>
              </a:ext>
            </a:extLst>
          </p:cNvPr>
          <p:cNvCxnSpPr>
            <a:cxnSpLocks/>
            <a:stCxn id="22" idx="6"/>
            <a:endCxn id="8" idx="1"/>
          </p:cNvCxnSpPr>
          <p:nvPr/>
        </p:nvCxnSpPr>
        <p:spPr>
          <a:xfrm>
            <a:off x="6301740" y="2642545"/>
            <a:ext cx="1058768" cy="581524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01C0322-C4AB-E23C-159F-99907E204F8C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24D0CD-1610-64EF-7B30-23F9EA08B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71" y="107366"/>
            <a:ext cx="631958" cy="9456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0959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935531-2A35-BC74-611F-414CCF790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563" y="930900"/>
            <a:ext cx="4895994" cy="3735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Dangerous Goods Account Approval Request </a:t>
            </a:r>
            <a:br>
              <a:rPr lang="en-US" dirty="0"/>
            </a:br>
            <a:r>
              <a:rPr lang="en-US" dirty="0"/>
              <a:t>(TD) Time Definite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116E6-C471-1314-203D-84D5D07867D4}"/>
              </a:ext>
            </a:extLst>
          </p:cNvPr>
          <p:cNvSpPr txBox="1"/>
          <p:nvPr/>
        </p:nvSpPr>
        <p:spPr>
          <a:xfrm>
            <a:off x="524498" y="1664708"/>
            <a:ext cx="1638131" cy="19493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5) </a:t>
            </a:r>
            <a:r>
              <a:rPr lang="pt-BR" sz="900" b="1" dirty="0">
                <a:solidFill>
                  <a:srgbClr val="FF0000"/>
                </a:solidFill>
                <a:highlight>
                  <a:srgbClr val="FFFF00"/>
                </a:highlight>
              </a:rPr>
              <a:t>TODOS</a:t>
            </a:r>
            <a:r>
              <a:rPr lang="pt-BR" sz="900" b="1" dirty="0">
                <a:solidFill>
                  <a:srgbClr val="FF0000"/>
                </a:solidFill>
              </a:rPr>
              <a:t> OS SEIS (6) QUESTIONAMENTOS DE </a:t>
            </a:r>
            <a:r>
              <a:rPr lang="pt-BR" sz="900" b="1" dirty="0">
                <a:solidFill>
                  <a:schemeClr val="tx1"/>
                </a:solidFill>
              </a:rPr>
              <a:t>“Training / Qualification Questions” </a:t>
            </a:r>
            <a:r>
              <a:rPr lang="pt-BR" sz="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DEVEM</a:t>
            </a:r>
            <a:r>
              <a:rPr lang="pt-BR" sz="900" b="1" dirty="0">
                <a:solidFill>
                  <a:srgbClr val="FF0000"/>
                </a:solidFill>
              </a:rPr>
              <a:t> SER RESPONDIDOS COM “</a:t>
            </a:r>
            <a:r>
              <a:rPr lang="pt-BR" sz="900" b="1" dirty="0">
                <a:solidFill>
                  <a:schemeClr val="tx1"/>
                </a:solidFill>
              </a:rPr>
              <a:t>Yes</a:t>
            </a:r>
            <a:r>
              <a:rPr lang="pt-BR" sz="900" b="1" dirty="0">
                <a:solidFill>
                  <a:srgbClr val="FF0000"/>
                </a:solidFill>
              </a:rPr>
              <a:t>” (Sim) ou “</a:t>
            </a:r>
            <a:r>
              <a:rPr lang="pt-BR" sz="900" b="1" dirty="0">
                <a:solidFill>
                  <a:schemeClr val="tx1"/>
                </a:solidFill>
              </a:rPr>
              <a:t>No</a:t>
            </a:r>
            <a:r>
              <a:rPr lang="pt-BR" sz="900" b="1" dirty="0">
                <a:solidFill>
                  <a:srgbClr val="FF0000"/>
                </a:solidFill>
              </a:rPr>
              <a:t>” (Não)</a:t>
            </a:r>
          </a:p>
          <a:p>
            <a:pPr algn="ctr"/>
            <a:endParaRPr lang="pt-BR" sz="500" b="1" dirty="0">
              <a:solidFill>
                <a:srgbClr val="FF0000"/>
              </a:solidFill>
            </a:endParaRP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Nota: Deverá ser respondida, obrigatoriamente, com “YES” ou “NO”.</a:t>
            </a: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Não incluir manualmente “NA”</a:t>
            </a:r>
          </a:p>
          <a:p>
            <a:pPr algn="ctr"/>
            <a:endParaRPr lang="pt-BR" sz="900" b="1" i="1" dirty="0">
              <a:solidFill>
                <a:srgbClr val="FF0000"/>
              </a:solidFill>
            </a:endParaRP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.</a:t>
            </a:r>
            <a:endParaRPr lang="pt-BR" sz="700" i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EEE219-4B50-14ED-AE57-D7C079DD660A}"/>
              </a:ext>
            </a:extLst>
          </p:cNvPr>
          <p:cNvCxnSpPr>
            <a:cxnSpLocks/>
            <a:stCxn id="29" idx="2"/>
            <a:endCxn id="17" idx="3"/>
          </p:cNvCxnSpPr>
          <p:nvPr/>
        </p:nvCxnSpPr>
        <p:spPr>
          <a:xfrm flipH="1" flipV="1">
            <a:off x="2162629" y="2639383"/>
            <a:ext cx="932157" cy="318866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91B08849-E05D-B542-FFE2-848CF0D28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042" y="105718"/>
            <a:ext cx="631958" cy="9473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93596499-7303-2400-C8E4-0B9E0A480809}"/>
              </a:ext>
            </a:extLst>
          </p:cNvPr>
          <p:cNvSpPr/>
          <p:nvPr/>
        </p:nvSpPr>
        <p:spPr>
          <a:xfrm>
            <a:off x="3094786" y="1124743"/>
            <a:ext cx="308814" cy="366701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152AC7-326B-EE88-AC86-1F0107D8AC9F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</p:spTree>
    <p:extLst>
      <p:ext uri="{BB962C8B-B14F-4D97-AF65-F5344CB8AC3E}">
        <p14:creationId xmlns:p14="http://schemas.microsoft.com/office/powerpoint/2010/main" val="188294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4C04213-6AB7-F591-84DA-9506B1883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26" y="2474140"/>
            <a:ext cx="5416828" cy="495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Dangerous Goods Account Approval Request </a:t>
            </a:r>
            <a:br>
              <a:rPr lang="en-US" dirty="0"/>
            </a:br>
            <a:r>
              <a:rPr lang="en-US" dirty="0"/>
              <a:t>(TD) Time Definite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B02FF-9C86-EB9C-6923-9DCB32AF6A3E}"/>
              </a:ext>
            </a:extLst>
          </p:cNvPr>
          <p:cNvSpPr txBox="1"/>
          <p:nvPr/>
        </p:nvSpPr>
        <p:spPr>
          <a:xfrm>
            <a:off x="7360508" y="2721802"/>
            <a:ext cx="1638131" cy="10045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6) </a:t>
            </a:r>
            <a:r>
              <a:rPr lang="pt-BR" sz="900" b="1" dirty="0">
                <a:solidFill>
                  <a:srgbClr val="FF0000"/>
                </a:solidFill>
              </a:rPr>
              <a:t>INSIRA A UN/ ONU DO MATERIAL PERIGOSO QUE DESEJA TRANSPORTAR CONOSCO.</a:t>
            </a:r>
          </a:p>
          <a:p>
            <a:pPr algn="ctr"/>
            <a:endParaRPr lang="pt-BR" sz="500" b="1" dirty="0">
              <a:solidFill>
                <a:srgbClr val="FF0000"/>
              </a:solidFill>
            </a:endParaRPr>
          </a:p>
          <a:p>
            <a:pPr algn="ctr"/>
            <a:r>
              <a:rPr lang="pt-BR" sz="800" i="1" dirty="0">
                <a:solidFill>
                  <a:schemeClr val="tx1"/>
                </a:solidFill>
              </a:rPr>
              <a:t>Nota: Essa informação está na seção 14 da FISPQ/ SDS.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389B94-A461-C8C1-1623-4A79B384F879}"/>
              </a:ext>
            </a:extLst>
          </p:cNvPr>
          <p:cNvSpPr/>
          <p:nvPr/>
        </p:nvSpPr>
        <p:spPr>
          <a:xfrm>
            <a:off x="964426" y="2315625"/>
            <a:ext cx="5337314" cy="65384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DE35B2-C681-02AB-A61B-1E13A66BEE06}"/>
              </a:ext>
            </a:extLst>
          </p:cNvPr>
          <p:cNvCxnSpPr>
            <a:cxnSpLocks/>
            <a:stCxn id="22" idx="6"/>
            <a:endCxn id="8" idx="1"/>
          </p:cNvCxnSpPr>
          <p:nvPr/>
        </p:nvCxnSpPr>
        <p:spPr>
          <a:xfrm>
            <a:off x="6301740" y="2642545"/>
            <a:ext cx="1058768" cy="581524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6CDD7A-4099-B1A5-F842-7E88E6EAE067}"/>
              </a:ext>
            </a:extLst>
          </p:cNvPr>
          <p:cNvSpPr txBox="1"/>
          <p:nvPr/>
        </p:nvSpPr>
        <p:spPr>
          <a:xfrm>
            <a:off x="163115" y="4595022"/>
            <a:ext cx="8882743" cy="3509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3" algn="ctr">
              <a:buClr>
                <a:schemeClr val="accent4"/>
              </a:buClr>
            </a:pPr>
            <a:r>
              <a:rPr lang="pt-BR" sz="1100" b="1" i="1" dirty="0">
                <a:solidFill>
                  <a:srgbClr val="FF0000"/>
                </a:solidFill>
              </a:rPr>
              <a:t>Restrições de rota podem ser aplicáveis! </a:t>
            </a:r>
          </a:p>
          <a:p>
            <a:pPr marL="0" lvl="3" algn="ctr">
              <a:buClr>
                <a:schemeClr val="accent4"/>
              </a:buClr>
            </a:pPr>
            <a:r>
              <a:rPr lang="pt-BR" sz="1100" b="1" i="1" dirty="0"/>
              <a:t>Por favor, confirmar com o seu contato Comercial se o seu produto poderá ser enviado entre a origem e destino desejados.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1C0322-C4AB-E23C-159F-99907E204F8C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24D0CD-1610-64EF-7B30-23F9EA08B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71" y="107366"/>
            <a:ext cx="631958" cy="9456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13313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D0CE37-63D4-E158-701D-1474DA1B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480" y="1667727"/>
            <a:ext cx="1869414" cy="28174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40" y="393631"/>
            <a:ext cx="8495999" cy="493950"/>
          </a:xfrm>
        </p:spPr>
        <p:txBody>
          <a:bodyPr/>
          <a:lstStyle/>
          <a:p>
            <a:r>
              <a:rPr lang="en-US" dirty="0" err="1"/>
              <a:t>Formulário</a:t>
            </a:r>
            <a:r>
              <a:rPr lang="en-US" dirty="0"/>
              <a:t> 2: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948DC-A59B-4A39-BF1E-E43D60D110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4766" y="1071834"/>
            <a:ext cx="8495999" cy="3528000"/>
          </a:xfrm>
        </p:spPr>
        <p:txBody>
          <a:bodyPr/>
          <a:lstStyle/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marL="0" lvl="6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1. Dangerous Goods Account Approval Request – (TD) Time Definite</a:t>
            </a:r>
          </a:p>
          <a:p>
            <a:pPr marL="0" lvl="6" indent="0">
              <a:buNone/>
            </a:pPr>
            <a:r>
              <a:rPr lang="en-US" sz="1400" b="1" dirty="0">
                <a:solidFill>
                  <a:srgbClr val="1A9CFC"/>
                </a:solidFill>
              </a:rPr>
              <a:t>2. Time Definite Dangerous Goods Authority Letter</a:t>
            </a:r>
          </a:p>
          <a:p>
            <a:pPr lvl="6"/>
            <a:endParaRPr lang="en-US" dirty="0"/>
          </a:p>
          <a:p>
            <a:pPr lvl="6"/>
            <a:endParaRPr lang="en-US" dirty="0"/>
          </a:p>
          <a:p>
            <a:pPr marL="0" lvl="6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42145A-EC3F-4202-01E3-D7133D656571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E392F-09C8-A4C4-C7E6-FBD68F9E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42105">
            <a:off x="6768275" y="1344853"/>
            <a:ext cx="1863172" cy="26952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58999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5DC14E-B18A-B6E4-E015-DC21A5EA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73" y="1080609"/>
            <a:ext cx="5131790" cy="2982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Time Definite Dangerous Goods Authority Letter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116E6-C471-1314-203D-84D5D07867D4}"/>
              </a:ext>
            </a:extLst>
          </p:cNvPr>
          <p:cNvSpPr txBox="1"/>
          <p:nvPr/>
        </p:nvSpPr>
        <p:spPr>
          <a:xfrm>
            <a:off x="113716" y="1541027"/>
            <a:ext cx="1638131" cy="4939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1) </a:t>
            </a:r>
            <a:r>
              <a:rPr lang="pt-BR" sz="900" b="1" cap="all" dirty="0">
                <a:solidFill>
                  <a:srgbClr val="FF0000"/>
                </a:solidFill>
              </a:rPr>
              <a:t>Insira o nome completo da empresa e seu endereço comercial.</a:t>
            </a:r>
            <a:endParaRPr lang="pt-BR" sz="700" i="1" cap="al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EEE219-4B50-14ED-AE57-D7C079DD660A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 flipV="1">
            <a:off x="1751847" y="1788003"/>
            <a:ext cx="215254" cy="40330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93CEB09-9E90-F133-2E53-A3F98D6B1630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E01D09-289C-7022-8DD3-FCE08017C723}"/>
              </a:ext>
            </a:extLst>
          </p:cNvPr>
          <p:cNvSpPr/>
          <p:nvPr/>
        </p:nvSpPr>
        <p:spPr>
          <a:xfrm>
            <a:off x="1967101" y="1448357"/>
            <a:ext cx="5034325" cy="759952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146CECD-BA8D-8D73-158B-38BA4CF9F557}"/>
              </a:ext>
            </a:extLst>
          </p:cNvPr>
          <p:cNvSpPr/>
          <p:nvPr/>
        </p:nvSpPr>
        <p:spPr>
          <a:xfrm>
            <a:off x="1965848" y="2085958"/>
            <a:ext cx="5101715" cy="94628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B4D41-C205-AB3C-A9AD-E35784D4E9F7}"/>
              </a:ext>
            </a:extLst>
          </p:cNvPr>
          <p:cNvSpPr txBox="1"/>
          <p:nvPr/>
        </p:nvSpPr>
        <p:spPr>
          <a:xfrm>
            <a:off x="169741" y="2281954"/>
            <a:ext cx="1638131" cy="14168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800" b="1" dirty="0">
                <a:solidFill>
                  <a:srgbClr val="1A9CFC"/>
                </a:solidFill>
              </a:rPr>
              <a:t>2) </a:t>
            </a:r>
            <a:r>
              <a:rPr lang="pt-BR" sz="800" b="1" dirty="0">
                <a:solidFill>
                  <a:srgbClr val="FF0000"/>
                </a:solidFill>
              </a:rPr>
              <a:t>DIGITE A CONTA (SHIPPER ACCOUNT) DE EXPORTAÇÃO EM </a:t>
            </a:r>
            <a:r>
              <a:rPr lang="pt-BR" sz="800" b="1" dirty="0">
                <a:solidFill>
                  <a:schemeClr val="tx1"/>
                </a:solidFill>
              </a:rPr>
              <a:t>“Account Number (Export Account)”</a:t>
            </a:r>
          </a:p>
          <a:p>
            <a:pPr algn="ctr"/>
            <a:r>
              <a:rPr lang="pt-BR" sz="800" dirty="0">
                <a:solidFill>
                  <a:schemeClr val="tx1"/>
                </a:solidFill>
              </a:rPr>
              <a:t>e/ou </a:t>
            </a:r>
            <a:r>
              <a:rPr lang="pt-BR" sz="800" b="1" dirty="0">
                <a:solidFill>
                  <a:srgbClr val="FF0000"/>
                </a:solidFill>
              </a:rPr>
              <a:t>INCLUIR A CONTA DE IMPORTAÇÃO EM </a:t>
            </a:r>
            <a:r>
              <a:rPr lang="pt-BR" sz="800" b="1" dirty="0">
                <a:solidFill>
                  <a:schemeClr val="tx1"/>
                </a:solidFill>
              </a:rPr>
              <a:t>“Account Number (Import Account)”</a:t>
            </a:r>
            <a:r>
              <a:rPr lang="pt-BR" sz="800" b="1" dirty="0">
                <a:solidFill>
                  <a:srgbClr val="FF0000"/>
                </a:solidFill>
              </a:rPr>
              <a:t> .</a:t>
            </a:r>
          </a:p>
          <a:p>
            <a:pPr algn="ctr"/>
            <a:endParaRPr lang="pt-BR" sz="300" b="1" dirty="0">
              <a:solidFill>
                <a:srgbClr val="FF0000"/>
              </a:solidFill>
            </a:endParaRPr>
          </a:p>
          <a:p>
            <a:pPr algn="ctr"/>
            <a:r>
              <a:rPr lang="pt-BR" sz="700" i="1" dirty="0">
                <a:solidFill>
                  <a:schemeClr val="tx1"/>
                </a:solidFill>
              </a:rPr>
              <a:t>Nota: NÃO inserir a mesma conta nos dois campos. Certifique-se de colocar a conta no campo correto</a:t>
            </a:r>
          </a:p>
          <a:p>
            <a:pPr algn="ctr"/>
            <a:endParaRPr lang="pt-BR" sz="700" i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AF2080-B765-620A-5705-30A981FF5782}"/>
              </a:ext>
            </a:extLst>
          </p:cNvPr>
          <p:cNvCxnSpPr>
            <a:cxnSpLocks/>
            <a:stCxn id="20" idx="2"/>
            <a:endCxn id="24" idx="3"/>
          </p:cNvCxnSpPr>
          <p:nvPr/>
        </p:nvCxnSpPr>
        <p:spPr>
          <a:xfrm flipH="1">
            <a:off x="1807872" y="2559098"/>
            <a:ext cx="157976" cy="431274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578747B-F512-9E23-C221-CFCBD30366E9}"/>
              </a:ext>
            </a:extLst>
          </p:cNvPr>
          <p:cNvSpPr txBox="1"/>
          <p:nvPr/>
        </p:nvSpPr>
        <p:spPr>
          <a:xfrm>
            <a:off x="7275775" y="1734347"/>
            <a:ext cx="1638131" cy="12560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800" b="1" dirty="0">
                <a:solidFill>
                  <a:srgbClr val="1A9CFC"/>
                </a:solidFill>
              </a:rPr>
              <a:t>3) </a:t>
            </a:r>
            <a:r>
              <a:rPr lang="pt-BR" sz="800" b="1" cap="all" dirty="0">
                <a:solidFill>
                  <a:srgbClr val="FF0000"/>
                </a:solidFill>
              </a:rPr>
              <a:t>Insira um número de conta válido se o transporte envolver um terceiro país.</a:t>
            </a:r>
            <a:endParaRPr lang="pt-BR" sz="300" b="1" cap="all" dirty="0">
              <a:solidFill>
                <a:srgbClr val="FF0000"/>
              </a:solidFill>
            </a:endParaRPr>
          </a:p>
          <a:p>
            <a:pPr algn="ctr"/>
            <a:r>
              <a:rPr lang="pt-BR" sz="700" i="1" dirty="0">
                <a:solidFill>
                  <a:schemeClr val="tx1"/>
                </a:solidFill>
              </a:rPr>
              <a:t>Nota: Essa conta permite que mercadorias perigosas sejam transportadas de um terceiro para outro país, sem precisar passar pelo país onde o titular da conta está baseado.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67F636A-EDB0-0D30-3732-6501A39578DA}"/>
              </a:ext>
            </a:extLst>
          </p:cNvPr>
          <p:cNvSpPr/>
          <p:nvPr/>
        </p:nvSpPr>
        <p:spPr>
          <a:xfrm>
            <a:off x="1965848" y="3620209"/>
            <a:ext cx="5035578" cy="37650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85BDFC-9FBD-29E2-5A15-96B081946F07}"/>
              </a:ext>
            </a:extLst>
          </p:cNvPr>
          <p:cNvSpPr txBox="1"/>
          <p:nvPr/>
        </p:nvSpPr>
        <p:spPr>
          <a:xfrm>
            <a:off x="7336128" y="3542689"/>
            <a:ext cx="1638131" cy="7752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800" b="1" dirty="0">
                <a:solidFill>
                  <a:srgbClr val="1A9CFC"/>
                </a:solidFill>
              </a:rPr>
              <a:t>4) </a:t>
            </a:r>
            <a:r>
              <a:rPr lang="pt-BR" sz="800" b="1" dirty="0">
                <a:solidFill>
                  <a:srgbClr val="FF0000"/>
                </a:solidFill>
              </a:rPr>
              <a:t>INSIRA O </a:t>
            </a:r>
            <a:r>
              <a:rPr lang="pt-BR" sz="800" b="1" dirty="0">
                <a:solidFill>
                  <a:schemeClr val="tx1"/>
                </a:solidFill>
              </a:rPr>
              <a:t>NOME</a:t>
            </a:r>
            <a:r>
              <a:rPr lang="pt-BR" sz="800" b="1" dirty="0">
                <a:solidFill>
                  <a:srgbClr val="FF0000"/>
                </a:solidFill>
              </a:rPr>
              <a:t> E </a:t>
            </a:r>
            <a:r>
              <a:rPr lang="pt-BR" sz="800" b="1" dirty="0">
                <a:solidFill>
                  <a:schemeClr val="tx1"/>
                </a:solidFill>
              </a:rPr>
              <a:t>SOBRENOME</a:t>
            </a:r>
            <a:r>
              <a:rPr lang="pt-BR" sz="800" b="1" dirty="0">
                <a:solidFill>
                  <a:srgbClr val="FF0000"/>
                </a:solidFill>
              </a:rPr>
              <a:t>, EMAIL E </a:t>
            </a:r>
            <a:r>
              <a:rPr lang="pt-BR" sz="800" b="1" dirty="0">
                <a:solidFill>
                  <a:schemeClr val="tx1"/>
                </a:solidFill>
              </a:rPr>
              <a:t>TELEFONE</a:t>
            </a:r>
            <a:r>
              <a:rPr lang="pt-BR" sz="800" b="1" dirty="0">
                <a:solidFill>
                  <a:srgbClr val="FF0000"/>
                </a:solidFill>
              </a:rPr>
              <a:t> COM O </a:t>
            </a:r>
            <a:r>
              <a:rPr lang="pt-BR" sz="800" b="1" dirty="0">
                <a:solidFill>
                  <a:schemeClr val="tx1"/>
                </a:solidFill>
              </a:rPr>
              <a:t>DDI + DDD </a:t>
            </a:r>
            <a:r>
              <a:rPr lang="pt-BR" sz="800" b="1" dirty="0">
                <a:solidFill>
                  <a:srgbClr val="FF0000"/>
                </a:solidFill>
              </a:rPr>
              <a:t>DO RESPONSÁVEL A SER CONTATADO EM CASO DE EMERGÊNCIA.</a:t>
            </a:r>
            <a:endParaRPr lang="pt-BR" sz="700" i="1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E77CE0-2F5F-945B-4168-309BFF2EB6D0}"/>
              </a:ext>
            </a:extLst>
          </p:cNvPr>
          <p:cNvCxnSpPr>
            <a:cxnSpLocks/>
            <a:stCxn id="35" idx="6"/>
            <a:endCxn id="36" idx="1"/>
          </p:cNvCxnSpPr>
          <p:nvPr/>
        </p:nvCxnSpPr>
        <p:spPr>
          <a:xfrm>
            <a:off x="7001426" y="3808463"/>
            <a:ext cx="334702" cy="121866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31325C-01F0-6E1C-4C82-EE5BFBAB0F47}"/>
              </a:ext>
            </a:extLst>
          </p:cNvPr>
          <p:cNvCxnSpPr>
            <a:cxnSpLocks/>
            <a:stCxn id="26" idx="6"/>
            <a:endCxn id="34" idx="2"/>
          </p:cNvCxnSpPr>
          <p:nvPr/>
        </p:nvCxnSpPr>
        <p:spPr>
          <a:xfrm flipV="1">
            <a:off x="7116621" y="2990373"/>
            <a:ext cx="978220" cy="291166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FFC94AE-302F-0B5B-6C35-DABE3E4346E2}"/>
              </a:ext>
            </a:extLst>
          </p:cNvPr>
          <p:cNvSpPr txBox="1"/>
          <p:nvPr/>
        </p:nvSpPr>
        <p:spPr>
          <a:xfrm>
            <a:off x="174171" y="4609135"/>
            <a:ext cx="9262687" cy="3509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lvl="3" indent="-171450">
              <a:buClr>
                <a:schemeClr val="accent4"/>
              </a:buClr>
              <a:buFont typeface="Delivery" panose="020F0503020204020204" pitchFamily="34" charset="0"/>
              <a:buChar char="−"/>
            </a:pPr>
            <a:r>
              <a:rPr lang="pt-BR" sz="850" b="1" i="1" dirty="0"/>
              <a:t>Baterias de Lítio dentro da Seção II são aquelas até 5kg por caixa, que não ultrapassam 100wh (baterias de íon lítio/ </a:t>
            </a:r>
            <a:r>
              <a:rPr lang="pt-BR" sz="850" b="1" i="1" dirty="0">
                <a:solidFill>
                  <a:srgbClr val="FF0000"/>
                </a:solidFill>
              </a:rPr>
              <a:t>UN3481</a:t>
            </a:r>
            <a:r>
              <a:rPr lang="pt-BR" sz="850" b="1" i="1" dirty="0"/>
              <a:t>) ou 2g de lítio (baterias de metal lítio/ </a:t>
            </a:r>
            <a:r>
              <a:rPr lang="pt-BR" sz="850" b="1" i="1" dirty="0">
                <a:solidFill>
                  <a:srgbClr val="FF0000"/>
                </a:solidFill>
              </a:rPr>
              <a:t>UN3091</a:t>
            </a:r>
            <a:r>
              <a:rPr lang="pt-BR" sz="850" b="1" i="1" dirty="0"/>
              <a:t>)</a:t>
            </a:r>
          </a:p>
          <a:p>
            <a:pPr marL="171450" lvl="3" indent="-171450">
              <a:buClr>
                <a:schemeClr val="accent4"/>
              </a:buClr>
              <a:buFont typeface="Delivery" panose="020F0503020204020204" pitchFamily="34" charset="0"/>
              <a:buChar char="−"/>
            </a:pPr>
            <a:r>
              <a:rPr lang="pt-BR" sz="850" b="1" i="1" dirty="0"/>
              <a:t>UN3373: Substâncias Biológicas, categoria B</a:t>
            </a:r>
          </a:p>
          <a:p>
            <a:pPr marL="171450" lvl="3" indent="-171450">
              <a:buClr>
                <a:schemeClr val="accent4"/>
              </a:buClr>
              <a:buFont typeface="Delivery" panose="020F0503020204020204" pitchFamily="34" charset="0"/>
              <a:buChar char="−"/>
            </a:pPr>
            <a:r>
              <a:rPr lang="pt-BR" sz="850" b="1" i="1" dirty="0"/>
              <a:t>UN3245: Microorganismo/ Organismos Geneticamente Modificados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861BF-F940-16B9-3C93-2B7E27DAC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042" y="115977"/>
            <a:ext cx="631959" cy="9370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999E172A-4E56-2D44-47BC-8FCFE43F04E7}"/>
              </a:ext>
            </a:extLst>
          </p:cNvPr>
          <p:cNvSpPr/>
          <p:nvPr/>
        </p:nvSpPr>
        <p:spPr>
          <a:xfrm>
            <a:off x="2014906" y="3060825"/>
            <a:ext cx="5101715" cy="44142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312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F116E6-C471-1314-203D-84D5D07867D4}"/>
              </a:ext>
            </a:extLst>
          </p:cNvPr>
          <p:cNvSpPr txBox="1"/>
          <p:nvPr/>
        </p:nvSpPr>
        <p:spPr>
          <a:xfrm>
            <a:off x="262393" y="2108059"/>
            <a:ext cx="2210463" cy="16847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5) </a:t>
            </a:r>
            <a:r>
              <a:rPr lang="pt-BR" sz="1000" b="1" dirty="0">
                <a:solidFill>
                  <a:srgbClr val="FF0000"/>
                </a:solidFill>
              </a:rPr>
              <a:t>SELECIONE O PRODUTO QUE DESEJA APROVAÇÃO DE CONTA.</a:t>
            </a:r>
          </a:p>
          <a:p>
            <a:pPr algn="ctr"/>
            <a:endParaRPr lang="pt-BR" sz="1000" b="1" i="1" dirty="0">
              <a:solidFill>
                <a:srgbClr val="FF0000"/>
              </a:solidFill>
            </a:endParaRPr>
          </a:p>
          <a:p>
            <a:pPr algn="ctr"/>
            <a:r>
              <a:rPr lang="pt-BR" sz="900" i="1" dirty="0">
                <a:solidFill>
                  <a:schemeClr val="tx1"/>
                </a:solidFill>
              </a:rPr>
              <a:t>Nota: A seleção feita aqui deve corresponder exatamente às opções escolhidas no formulário 1 (</a:t>
            </a:r>
            <a:r>
              <a:rPr lang="en-US" sz="900" i="1" dirty="0">
                <a:solidFill>
                  <a:schemeClr val="tx1"/>
                </a:solidFill>
              </a:rPr>
              <a:t>Dangerous Goods Account Approval Request </a:t>
            </a:r>
            <a:br>
              <a:rPr lang="en-US" sz="900" i="1" dirty="0">
                <a:solidFill>
                  <a:schemeClr val="tx1"/>
                </a:solidFill>
              </a:rPr>
            </a:br>
            <a:r>
              <a:rPr lang="en-US" sz="900" i="1" dirty="0">
                <a:solidFill>
                  <a:schemeClr val="tx1"/>
                </a:solidFill>
              </a:rPr>
              <a:t>(TD) Time Definite). 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</a:rPr>
              <a:t>Se </a:t>
            </a:r>
            <a:r>
              <a:rPr lang="en-US" sz="900" i="1" dirty="0" err="1">
                <a:solidFill>
                  <a:schemeClr val="tx1"/>
                </a:solidFill>
              </a:rPr>
              <a:t>deseja</a:t>
            </a:r>
            <a:r>
              <a:rPr lang="en-US" sz="900" i="1" dirty="0">
                <a:solidFill>
                  <a:schemeClr val="tx1"/>
                </a:solidFill>
              </a:rPr>
              <a:t> </a:t>
            </a:r>
            <a:r>
              <a:rPr lang="en-US" sz="900" i="1" dirty="0" err="1">
                <a:solidFill>
                  <a:schemeClr val="tx1"/>
                </a:solidFill>
              </a:rPr>
              <a:t>aprovação</a:t>
            </a:r>
            <a:r>
              <a:rPr lang="en-US" sz="900" i="1" dirty="0">
                <a:solidFill>
                  <a:schemeClr val="tx1"/>
                </a:solidFill>
              </a:rPr>
              <a:t> para </a:t>
            </a:r>
            <a:endParaRPr lang="pt-BR" sz="800" i="1" dirty="0">
              <a:solidFill>
                <a:schemeClr val="tx1"/>
              </a:solidFill>
            </a:endParaRPr>
          </a:p>
          <a:p>
            <a:pPr algn="ctr"/>
            <a:r>
              <a:rPr lang="en-US" sz="900" b="1" dirty="0"/>
              <a:t>Lithium Batteries Section IB</a:t>
            </a:r>
            <a:r>
              <a:rPr lang="en-US" sz="900" dirty="0"/>
              <a:t>, </a:t>
            </a:r>
            <a:r>
              <a:rPr lang="en-US" sz="900" dirty="0" err="1"/>
              <a:t>assinale</a:t>
            </a:r>
            <a:r>
              <a:rPr lang="en-US" sz="900" dirty="0"/>
              <a:t> </a:t>
            </a:r>
            <a:r>
              <a:rPr lang="en-US" sz="900" b="1" dirty="0"/>
              <a:t>HE,HK – Dangerous Goods […]</a:t>
            </a:r>
            <a:endParaRPr lang="pt-BR" sz="900" b="1" i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EEE219-4B50-14ED-AE57-D7C079DD660A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2472856" y="2950416"/>
            <a:ext cx="419176" cy="0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93CEB09-9E90-F133-2E53-A3F98D6B1630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753D62-0D6E-FF5A-3DBC-C6CB38C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Time Definite Dangerous Goods Authority Letter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88CA03-64DF-A8EB-7722-91ADEA91C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042" y="115977"/>
            <a:ext cx="631959" cy="9370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C912C-1909-49D1-071D-92BECAF3B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032" y="1672494"/>
            <a:ext cx="4814498" cy="238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1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5939CB3-07EE-B975-6691-0E4B8DF2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141" y="1547218"/>
            <a:ext cx="5682179" cy="23738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3CEB09-9E90-F133-2E53-A3F98D6B1630}"/>
              </a:ext>
            </a:extLst>
          </p:cNvPr>
          <p:cNvSpPr/>
          <p:nvPr/>
        </p:nvSpPr>
        <p:spPr>
          <a:xfrm>
            <a:off x="0" y="39612"/>
            <a:ext cx="2402114" cy="283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r>
              <a:rPr lang="pt-BR" sz="1100" dirty="0">
                <a:solidFill>
                  <a:schemeClr val="bg2">
                    <a:lumMod val="90000"/>
                  </a:schemeClr>
                </a:solidFill>
              </a:rPr>
              <a:t>FOR EXTERNAL USE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753D62-0D6E-FF5A-3DBC-C6CB38C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8" y="781519"/>
            <a:ext cx="9262687" cy="493950"/>
          </a:xfrm>
        </p:spPr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Geral: Time Definite Dangerous Goods Authority Letter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56940-958A-AD8A-F52D-A459E05DFC8F}"/>
              </a:ext>
            </a:extLst>
          </p:cNvPr>
          <p:cNvSpPr/>
          <p:nvPr/>
        </p:nvSpPr>
        <p:spPr>
          <a:xfrm>
            <a:off x="5551192" y="1611825"/>
            <a:ext cx="2633133" cy="209914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582D0-34F7-767E-C82E-CEAA7B8FE639}"/>
              </a:ext>
            </a:extLst>
          </p:cNvPr>
          <p:cNvSpPr txBox="1"/>
          <p:nvPr/>
        </p:nvSpPr>
        <p:spPr>
          <a:xfrm>
            <a:off x="5671695" y="1548078"/>
            <a:ext cx="2453012" cy="20991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endParaRPr lang="pt-BR" sz="18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lang="pt-BR" sz="2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 PREENCHA! 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ESTES CAMPOS SÃO DESTINADOS AO PREENCHIMENTO PELA DHL.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842451-EE53-4729-81C1-2F8851EC3639}"/>
              </a:ext>
            </a:extLst>
          </p:cNvPr>
          <p:cNvSpPr/>
          <p:nvPr/>
        </p:nvSpPr>
        <p:spPr>
          <a:xfrm>
            <a:off x="2952367" y="2168417"/>
            <a:ext cx="2370814" cy="30091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46729-157E-3F64-9671-AF37FCC4C0C4}"/>
              </a:ext>
            </a:extLst>
          </p:cNvPr>
          <p:cNvSpPr txBox="1"/>
          <p:nvPr/>
        </p:nvSpPr>
        <p:spPr>
          <a:xfrm>
            <a:off x="101379" y="1534307"/>
            <a:ext cx="1613121" cy="83392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6) </a:t>
            </a:r>
            <a:r>
              <a:rPr lang="pt-BR" sz="1000" b="1" dirty="0">
                <a:solidFill>
                  <a:srgbClr val="FF0000"/>
                </a:solidFill>
              </a:rPr>
              <a:t>ASSINE OBRIGATORIAMENTE EM </a:t>
            </a:r>
            <a:r>
              <a:rPr lang="pt-BR" sz="1000" b="1" dirty="0">
                <a:solidFill>
                  <a:schemeClr val="tx1"/>
                </a:solidFill>
              </a:rPr>
              <a:t>“Authorized Signatory”.</a:t>
            </a:r>
          </a:p>
          <a:p>
            <a:pPr algn="ctr"/>
            <a:endParaRPr lang="pt-BR" sz="500" b="1" i="1" dirty="0">
              <a:solidFill>
                <a:srgbClr val="FF0000"/>
              </a:solidFill>
            </a:endParaRPr>
          </a:p>
          <a:p>
            <a:pPr algn="ctr"/>
            <a:r>
              <a:rPr lang="pt-BR" sz="900" i="1" dirty="0">
                <a:solidFill>
                  <a:schemeClr val="tx1"/>
                </a:solidFill>
              </a:rPr>
              <a:t>Nota: A assinatura poderá ser eletrônica.</a:t>
            </a:r>
            <a:endParaRPr lang="pt-BR" sz="800" i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1F969B-FB9B-1424-8930-9FD10E53E170}"/>
              </a:ext>
            </a:extLst>
          </p:cNvPr>
          <p:cNvSpPr txBox="1"/>
          <p:nvPr/>
        </p:nvSpPr>
        <p:spPr>
          <a:xfrm>
            <a:off x="323998" y="2661396"/>
            <a:ext cx="1613121" cy="386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7) </a:t>
            </a:r>
            <a:r>
              <a:rPr lang="pt-BR" sz="1000" b="1" dirty="0">
                <a:solidFill>
                  <a:srgbClr val="FF0000"/>
                </a:solidFill>
              </a:rPr>
              <a:t>INCLUA O SEU CARGO EM </a:t>
            </a:r>
            <a:r>
              <a:rPr lang="pt-BR" sz="1000" b="1" dirty="0">
                <a:solidFill>
                  <a:schemeClr val="tx1"/>
                </a:solidFill>
              </a:rPr>
              <a:t>“Position”.</a:t>
            </a:r>
            <a:endParaRPr lang="pt-BR" sz="800" i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017C2-E276-7CD9-8997-80504A0BBA3A}"/>
              </a:ext>
            </a:extLst>
          </p:cNvPr>
          <p:cNvSpPr txBox="1"/>
          <p:nvPr/>
        </p:nvSpPr>
        <p:spPr>
          <a:xfrm>
            <a:off x="159104" y="3324833"/>
            <a:ext cx="2083905" cy="386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8) </a:t>
            </a:r>
            <a:r>
              <a:rPr lang="pt-BR" sz="1000" b="1" dirty="0">
                <a:solidFill>
                  <a:srgbClr val="FF0000"/>
                </a:solidFill>
              </a:rPr>
              <a:t>INSIRA O SEU NOME E SOBRENOME EM </a:t>
            </a:r>
            <a:r>
              <a:rPr lang="pt-BR" sz="1000" b="1" dirty="0">
                <a:solidFill>
                  <a:schemeClr val="tx1"/>
                </a:solidFill>
              </a:rPr>
              <a:t>“Printed  Name”.</a:t>
            </a:r>
            <a:endParaRPr lang="pt-BR" sz="800" i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5A432-DC0F-6750-71BB-3A0B0CD308FF}"/>
              </a:ext>
            </a:extLst>
          </p:cNvPr>
          <p:cNvSpPr txBox="1"/>
          <p:nvPr/>
        </p:nvSpPr>
        <p:spPr>
          <a:xfrm>
            <a:off x="792924" y="4294296"/>
            <a:ext cx="2083905" cy="4939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9) </a:t>
            </a:r>
            <a:r>
              <a:rPr lang="pt-BR" sz="1000" b="1" dirty="0">
                <a:solidFill>
                  <a:srgbClr val="FF0000"/>
                </a:solidFill>
              </a:rPr>
              <a:t>DIGITE A CIDADE E PAÍS ONDE A EMPRESA ESTÁ LOCALIZADA EM </a:t>
            </a:r>
            <a:r>
              <a:rPr lang="pt-BR" sz="1000" b="1" dirty="0">
                <a:solidFill>
                  <a:schemeClr val="tx1"/>
                </a:solidFill>
              </a:rPr>
              <a:t>"Place".</a:t>
            </a:r>
            <a:endParaRPr lang="pt-BR" sz="800" i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12CA65-F2F5-DBF6-EE82-463BE394BF1C}"/>
              </a:ext>
            </a:extLst>
          </p:cNvPr>
          <p:cNvSpPr txBox="1"/>
          <p:nvPr/>
        </p:nvSpPr>
        <p:spPr>
          <a:xfrm>
            <a:off x="3365170" y="4212687"/>
            <a:ext cx="2083905" cy="3701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pt-BR" sz="900" b="1" dirty="0">
                <a:solidFill>
                  <a:srgbClr val="1A9CFC"/>
                </a:solidFill>
              </a:rPr>
              <a:t>10) </a:t>
            </a:r>
            <a:r>
              <a:rPr lang="pt-BR" sz="1000" b="1" dirty="0">
                <a:solidFill>
                  <a:srgbClr val="FF0000"/>
                </a:solidFill>
              </a:rPr>
              <a:t>DATA DE PREENCHIMENTO DO FORMULÁRIO</a:t>
            </a:r>
            <a:endParaRPr lang="pt-BR" sz="800" i="1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96BAA-AAE7-148B-B18F-38F3257A4182}"/>
              </a:ext>
            </a:extLst>
          </p:cNvPr>
          <p:cNvSpPr/>
          <p:nvPr/>
        </p:nvSpPr>
        <p:spPr>
          <a:xfrm>
            <a:off x="2672881" y="2606296"/>
            <a:ext cx="2657724" cy="28624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1C626B-7938-FA5E-0E4D-5FC0FB62047A}"/>
              </a:ext>
            </a:extLst>
          </p:cNvPr>
          <p:cNvSpPr/>
          <p:nvPr/>
        </p:nvSpPr>
        <p:spPr>
          <a:xfrm>
            <a:off x="2873760" y="2958175"/>
            <a:ext cx="2496709" cy="24201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3D0154-AB9B-C50D-A79E-E38D4B95F105}"/>
              </a:ext>
            </a:extLst>
          </p:cNvPr>
          <p:cNvSpPr/>
          <p:nvPr/>
        </p:nvSpPr>
        <p:spPr>
          <a:xfrm>
            <a:off x="2899724" y="3227120"/>
            <a:ext cx="2379760" cy="271749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D209FC-E246-16CA-5734-4406ABCD85B4}"/>
              </a:ext>
            </a:extLst>
          </p:cNvPr>
          <p:cNvSpPr/>
          <p:nvPr/>
        </p:nvSpPr>
        <p:spPr>
          <a:xfrm>
            <a:off x="2827687" y="3489416"/>
            <a:ext cx="2315373" cy="335073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334F70-06C3-B652-1E15-937E1E83B393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flipH="1" flipV="1">
            <a:off x="1714500" y="1951269"/>
            <a:ext cx="1237867" cy="367605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4D0522D-4D61-80D7-4A78-3EFCB4A489C5}"/>
              </a:ext>
            </a:extLst>
          </p:cNvPr>
          <p:cNvCxnSpPr>
            <a:stCxn id="19" idx="2"/>
            <a:endCxn id="14" idx="3"/>
          </p:cNvCxnSpPr>
          <p:nvPr/>
        </p:nvCxnSpPr>
        <p:spPr>
          <a:xfrm flipH="1">
            <a:off x="1937119" y="2749420"/>
            <a:ext cx="735762" cy="105044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4CB6B0-EE2C-D7F2-504D-43B8C5B6B33A}"/>
              </a:ext>
            </a:extLst>
          </p:cNvPr>
          <p:cNvCxnSpPr>
            <a:cxnSpLocks/>
            <a:stCxn id="20" idx="2"/>
            <a:endCxn id="15" idx="3"/>
          </p:cNvCxnSpPr>
          <p:nvPr/>
        </p:nvCxnSpPr>
        <p:spPr>
          <a:xfrm flipH="1">
            <a:off x="2243009" y="3079180"/>
            <a:ext cx="630751" cy="438721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C87A68-569B-AB7C-BF6B-7EF22725A353}"/>
              </a:ext>
            </a:extLst>
          </p:cNvPr>
          <p:cNvCxnSpPr>
            <a:cxnSpLocks/>
            <a:stCxn id="21" idx="2"/>
            <a:endCxn id="16" idx="0"/>
          </p:cNvCxnSpPr>
          <p:nvPr/>
        </p:nvCxnSpPr>
        <p:spPr>
          <a:xfrm flipH="1">
            <a:off x="1834877" y="3362995"/>
            <a:ext cx="1064847" cy="931301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2C1F0B0-8982-7D6D-369A-AC2F3BFF655F}"/>
              </a:ext>
            </a:extLst>
          </p:cNvPr>
          <p:cNvCxnSpPr>
            <a:stCxn id="22" idx="4"/>
            <a:endCxn id="18" idx="0"/>
          </p:cNvCxnSpPr>
          <p:nvPr/>
        </p:nvCxnSpPr>
        <p:spPr>
          <a:xfrm>
            <a:off x="3985374" y="3824489"/>
            <a:ext cx="421749" cy="388198"/>
          </a:xfrm>
          <a:prstGeom prst="straightConnector1">
            <a:avLst/>
          </a:prstGeom>
          <a:ln w="12700">
            <a:solidFill>
              <a:srgbClr val="1A9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9572B5A-405F-6D46-6404-167D108CB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042" y="115977"/>
            <a:ext cx="631959" cy="9370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08240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BEDD0-A334-4EFC-B6EA-5238008D2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9210D-70C9-3494-69CF-A2EB7C78BE51}"/>
              </a:ext>
            </a:extLst>
          </p:cNvPr>
          <p:cNvSpPr/>
          <p:nvPr/>
        </p:nvSpPr>
        <p:spPr>
          <a:xfrm>
            <a:off x="63610" y="63610"/>
            <a:ext cx="2242268" cy="27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E4FD08F-7581-2BF6-9E2E-59B645A7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6" y="470038"/>
            <a:ext cx="9262687" cy="493950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Preenchido</a:t>
            </a:r>
            <a:r>
              <a:rPr lang="en-US" dirty="0"/>
              <a:t>: Dangerous Goods Account Approval Request </a:t>
            </a:r>
            <a:br>
              <a:rPr lang="en-US" dirty="0"/>
            </a:br>
            <a:r>
              <a:rPr lang="en-US" dirty="0"/>
              <a:t>(TD) Time Definite | </a:t>
            </a:r>
            <a:r>
              <a:rPr lang="en-US" dirty="0">
                <a:solidFill>
                  <a:schemeClr val="tx1"/>
                </a:solidFill>
              </a:rPr>
              <a:t>BATERIAS DE LÍTIO SEÇÃO II</a:t>
            </a:r>
            <a:br>
              <a:rPr lang="en-US" dirty="0"/>
            </a:b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F067D-E50D-E952-148D-AB0FBF0AEA43}"/>
              </a:ext>
            </a:extLst>
          </p:cNvPr>
          <p:cNvSpPr/>
          <p:nvPr/>
        </p:nvSpPr>
        <p:spPr>
          <a:xfrm>
            <a:off x="7571232" y="137160"/>
            <a:ext cx="1260972" cy="493950"/>
          </a:xfrm>
          <a:prstGeom prst="rect">
            <a:avLst/>
          </a:prstGeom>
          <a:solidFill>
            <a:srgbClr val="1A9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ctr"/>
            <a:r>
              <a:rPr lang="pt-BR" sz="850" b="1" dirty="0">
                <a:solidFill>
                  <a:schemeClr val="bg1"/>
                </a:solidFill>
              </a:rPr>
              <a:t>NECESSÁRIOS FORMULÁRIO 1 E FORMULÁRIO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91919D-DDA7-C879-E833-EF6275699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59" y="858384"/>
            <a:ext cx="2809922" cy="39455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283E71-DB89-E6C1-5881-F9ECBAB51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139" y="858384"/>
            <a:ext cx="2809922" cy="39455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609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BEDD0-A334-4EFC-B6EA-5238008D2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9210D-70C9-3494-69CF-A2EB7C78BE51}"/>
              </a:ext>
            </a:extLst>
          </p:cNvPr>
          <p:cNvSpPr/>
          <p:nvPr/>
        </p:nvSpPr>
        <p:spPr>
          <a:xfrm>
            <a:off x="63610" y="63610"/>
            <a:ext cx="2242268" cy="27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D9F378E-C158-B03B-FC9F-8C9164AF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6" y="470038"/>
            <a:ext cx="9262687" cy="493950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Preenchido</a:t>
            </a:r>
            <a:r>
              <a:rPr lang="en-US" dirty="0"/>
              <a:t>: Time Definite Dangerous Goods Authority Letter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BATERIAS DE LÍTIO SEÇÃO II</a:t>
            </a:r>
            <a:br>
              <a:rPr lang="en-US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D11F6-CE79-9283-52A7-1B465466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5" y="855509"/>
            <a:ext cx="2744142" cy="35654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115D3-B514-8992-1563-92E6F7B3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63" y="855509"/>
            <a:ext cx="2744142" cy="35654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99ED60-BB87-ED26-1EC8-00C405D6D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062" y="855509"/>
            <a:ext cx="2744142" cy="35654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4446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BEDD0-A334-4EFC-B6EA-5238008D2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9210D-70C9-3494-69CF-A2EB7C78BE51}"/>
              </a:ext>
            </a:extLst>
          </p:cNvPr>
          <p:cNvSpPr/>
          <p:nvPr/>
        </p:nvSpPr>
        <p:spPr>
          <a:xfrm>
            <a:off x="63610" y="63610"/>
            <a:ext cx="2242268" cy="27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D9F378E-C158-B03B-FC9F-8C9164AF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6" y="470038"/>
            <a:ext cx="9262687" cy="493950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Preenchido</a:t>
            </a:r>
            <a:r>
              <a:rPr lang="en-US" dirty="0"/>
              <a:t>: Dangerous Goods Account Approval Request </a:t>
            </a:r>
            <a:br>
              <a:rPr lang="en-US" dirty="0"/>
            </a:br>
            <a:r>
              <a:rPr lang="en-US" dirty="0"/>
              <a:t>(TD) Time Definite | </a:t>
            </a:r>
            <a:r>
              <a:rPr lang="en-US" dirty="0">
                <a:solidFill>
                  <a:schemeClr val="tx1"/>
                </a:solidFill>
              </a:rPr>
              <a:t>FULL DG - LÍQUIDO INFLAMÁVEL [UN1266,III]</a:t>
            </a:r>
            <a:br>
              <a:rPr lang="en-US" dirty="0"/>
            </a:b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4347EF-B01C-4090-C5CB-FB5CF2DE3813}"/>
              </a:ext>
            </a:extLst>
          </p:cNvPr>
          <p:cNvSpPr/>
          <p:nvPr/>
        </p:nvSpPr>
        <p:spPr>
          <a:xfrm>
            <a:off x="7266301" y="137161"/>
            <a:ext cx="1565903" cy="493950"/>
          </a:xfrm>
          <a:prstGeom prst="rect">
            <a:avLst/>
          </a:prstGeom>
          <a:solidFill>
            <a:srgbClr val="1A9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ctr"/>
            <a:r>
              <a:rPr lang="pt-BR" sz="850" b="1" dirty="0">
                <a:solidFill>
                  <a:schemeClr val="bg1"/>
                </a:solidFill>
              </a:rPr>
              <a:t>NECESSÁRIOS FORMULÁRIO 1 E FORMULÁRIO 2 +</a:t>
            </a:r>
          </a:p>
          <a:p>
            <a:pPr algn="ctr"/>
            <a:r>
              <a:rPr lang="pt-BR" sz="850" b="1" dirty="0">
                <a:solidFill>
                  <a:schemeClr val="bg1"/>
                </a:solidFill>
              </a:rPr>
              <a:t>CERTIFICADO DG IATA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B2817-1DDA-BABA-E3F1-C0BE7776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44" y="815155"/>
            <a:ext cx="3138914" cy="41376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16CDB-5009-9F59-9A1E-63A215265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817076"/>
            <a:ext cx="3134938" cy="41357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99107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BEDD0-A334-4EFC-B6EA-5238008D2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9210D-70C9-3494-69CF-A2EB7C78BE51}"/>
              </a:ext>
            </a:extLst>
          </p:cNvPr>
          <p:cNvSpPr/>
          <p:nvPr/>
        </p:nvSpPr>
        <p:spPr>
          <a:xfrm>
            <a:off x="63610" y="63610"/>
            <a:ext cx="2242268" cy="27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D9F378E-C158-B03B-FC9F-8C9164AF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6" y="470038"/>
            <a:ext cx="9262687" cy="493950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Preenchido</a:t>
            </a:r>
            <a:r>
              <a:rPr lang="en-US" dirty="0"/>
              <a:t>: Time Definite Dangerous Goods Authority Letter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FULL DG - LÍQUIDO INFLAMÁVEL [UN1266, III]</a:t>
            </a:r>
            <a:br>
              <a:rPr lang="en-US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A05C0-BA9F-C03D-D148-38AE81C6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" y="855508"/>
            <a:ext cx="2756347" cy="35654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2515D-D83C-7082-2D42-10DCF7D4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63" y="855509"/>
            <a:ext cx="2744142" cy="35654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D3965-3433-3492-749A-BC640C69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062" y="855509"/>
            <a:ext cx="2744142" cy="35654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94862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4876B-561F-BF14-D559-632BF54758C5}"/>
              </a:ext>
            </a:extLst>
          </p:cNvPr>
          <p:cNvSpPr/>
          <p:nvPr/>
        </p:nvSpPr>
        <p:spPr>
          <a:xfrm>
            <a:off x="63610" y="63610"/>
            <a:ext cx="2242268" cy="27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2457C-3FFB-0E2C-5785-60BD37165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D7D11-1503-6A82-3A8E-A25BCA194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11" y="1020585"/>
            <a:ext cx="5113976" cy="364192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F626BB3-8395-0CF2-BCAD-6EF60037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6" y="470038"/>
            <a:ext cx="9262687" cy="493950"/>
          </a:xfrm>
        </p:spPr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Preenchido</a:t>
            </a:r>
            <a:r>
              <a:rPr lang="en-US" dirty="0"/>
              <a:t>: Time Definite Dangerous Goods Authority Letter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FULL DG - LÍQUIDO INFLAMÁVEL [UN1266, III]</a:t>
            </a:r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72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C8CF8-E3E0-4792-8223-D85DBD3F68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0E5B96-B1C7-745B-F4F3-88B79971B8D0}"/>
              </a:ext>
            </a:extLst>
          </p:cNvPr>
          <p:cNvSpPr/>
          <p:nvPr/>
        </p:nvSpPr>
        <p:spPr>
          <a:xfrm>
            <a:off x="0" y="0"/>
            <a:ext cx="2450592" cy="246888"/>
          </a:xfrm>
          <a:prstGeom prst="rect">
            <a:avLst/>
          </a:prstGeom>
          <a:solidFill>
            <a:srgbClr val="FFEF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571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zDDC09a53Ko53PO9EPRg"/>
</p:tagLst>
</file>

<file path=ppt/theme/theme1.xml><?xml version="1.0" encoding="utf-8"?>
<a:theme xmlns:a="http://schemas.openxmlformats.org/drawingml/2006/main" name="DHL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72000" tIns="36000" rIns="72000" bIns="36000" rtlCol="0" anchor="t">
        <a:noAutofit/>
      </a:bodyPr>
      <a:lstStyle>
        <a:defPPr algn="l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500"/>
          </a:spcAft>
          <a:defRPr sz="1200" dirty="0" err="1" smtClean="0"/>
        </a:defPPr>
      </a:lstStyle>
    </a:txDef>
  </a:objectDefaults>
  <a:extraClrSchemeLst/>
  <a:custClrLst>
    <a:custClr name="100% Postyellow">
      <a:srgbClr val="FFCC00"/>
    </a:custClr>
    <a:custClr name="70% Postyellow">
      <a:srgbClr val="FFDB4C"/>
    </a:custClr>
    <a:custClr name="50% Postyellow">
      <a:srgbClr val="FFE57F"/>
    </a:custClr>
    <a:custClr name="30% Postyellow">
      <a:srgbClr val="FFF0B2"/>
    </a:custClr>
    <a:custClr name="20% Postyellow">
      <a:srgbClr val="FFF5CC"/>
    </a:custClr>
    <a:custClr name="None">
      <a:srgbClr val="FFFFFF"/>
    </a:custClr>
    <a:custClr name="Dark Green">
      <a:srgbClr val="007C39"/>
    </a:custClr>
    <a:custClr name="65% Postyellow">
      <a:srgbClr val="FFDE59"/>
    </a:custClr>
    <a:custClr name="None">
      <a:srgbClr val="FFFFFF"/>
    </a:custClr>
    <a:custClr name="None">
      <a:srgbClr val="FFFFFF"/>
    </a:custClr>
    <a:custClr name="Gray 80">
      <a:srgbClr val="333333"/>
    </a:custClr>
    <a:custClr name="Gray 60">
      <a:srgbClr val="666666"/>
    </a:custClr>
    <a:custClr name="Gray 45">
      <a:srgbClr val="8C8C8C"/>
    </a:custClr>
    <a:custClr name="Gray 30">
      <a:srgbClr val="B2B2B2"/>
    </a:custClr>
    <a:custClr name="Gray 20">
      <a:srgbClr val="CCCCCC"/>
    </a:custClr>
    <a:custClr name="Gray 10">
      <a:srgbClr val="E6E6E6"/>
    </a:custClr>
    <a:custClr name="Gray 08">
      <a:srgbClr val="EBEBEB"/>
    </a:custClr>
    <a:custClr name="Gray 05">
      <a:srgbClr val="F2F2F2"/>
    </a:custClr>
    <a:custClr name="None">
      <a:srgbClr val="FFFFFF"/>
    </a:custClr>
    <a:custClr name="None">
      <a:srgbClr val="FFFFFF"/>
    </a:custClr>
  </a:custClrLst>
  <a:extLst>
    <a:ext uri="{05A4C25C-085E-4340-85A3-A5531E510DB2}">
      <thm15:themeFamily xmlns:thm15="http://schemas.microsoft.com/office/thememl/2012/main" name="DHL.potx" id="{4493218C-6473-45E8-A633-B94618DE989C}" vid="{8147E7EE-DA6C-4617-8820-B58906F4CB4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143D92C5B73144B1B67A527E67AD93" ma:contentTypeVersion="13" ma:contentTypeDescription="Create a new document." ma:contentTypeScope="" ma:versionID="122b773c48e60196e5b88566828c0f7a">
  <xsd:schema xmlns:xsd="http://www.w3.org/2001/XMLSchema" xmlns:xs="http://www.w3.org/2001/XMLSchema" xmlns:p="http://schemas.microsoft.com/office/2006/metadata/properties" xmlns:ns2="6901d5ac-17d7-4c92-8c28-8b1a88c27cea" targetNamespace="http://schemas.microsoft.com/office/2006/metadata/properties" ma:root="true" ma:fieldsID="4dd84503132b818da2968571147d8966" ns2:_="">
    <xsd:import namespace="6901d5ac-17d7-4c92-8c28-8b1a88c27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1d5ac-17d7-4c92-8c28-8b1a88c27c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1A4AE6-7036-46A4-8B1E-5503F3E76C99}">
  <ds:schemaRefs>
    <ds:schemaRef ds:uri="http://schemas.microsoft.com/office/2006/metadata/properties"/>
    <ds:schemaRef ds:uri="http://schemas.microsoft.com/office/infopath/2007/PartnerControls"/>
    <ds:schemaRef ds:uri="52b63bf3-b45e-44a5-8d30-688089fe4fa3"/>
    <ds:schemaRef ds:uri="1e4ac721-88eb-4f05-a8db-db23cb5d3467"/>
  </ds:schemaRefs>
</ds:datastoreItem>
</file>

<file path=customXml/itemProps2.xml><?xml version="1.0" encoding="utf-8"?>
<ds:datastoreItem xmlns:ds="http://schemas.openxmlformats.org/officeDocument/2006/customXml" ds:itemID="{8A3FF6B1-BC91-4AF4-A075-5D46A6B58312}"/>
</file>

<file path=customXml/itemProps3.xml><?xml version="1.0" encoding="utf-8"?>
<ds:datastoreItem xmlns:ds="http://schemas.openxmlformats.org/officeDocument/2006/customXml" ds:itemID="{EE841FD3-FA4A-4378-B03A-FABEF6AABCD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DHL</Template>
  <TotalTime>2924</TotalTime>
  <Words>1369</Words>
  <Application>Microsoft Office PowerPoint</Application>
  <PresentationFormat>On-screen Show (16:9)</PresentationFormat>
  <Paragraphs>161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Delivery</vt:lpstr>
      <vt:lpstr>Delivery Cd Black</vt:lpstr>
      <vt:lpstr>Delivery Cd Light</vt:lpstr>
      <vt:lpstr>Symbol</vt:lpstr>
      <vt:lpstr>DHL</vt:lpstr>
      <vt:lpstr>think-cell Folie</vt:lpstr>
      <vt:lpstr>formulários aprovação de conta</vt:lpstr>
      <vt:lpstr>Agenda</vt:lpstr>
      <vt:lpstr>Instruções Iniciais:</vt:lpstr>
      <vt:lpstr>Formulário 1:</vt:lpstr>
      <vt:lpstr>Preenchimento Geral: Dangerous Goods Account Approval Request  (TD) Time Definite </vt:lpstr>
      <vt:lpstr>Preenchimento Geral: Dangerous Goods Account Approval Request  (TD) Time Definite </vt:lpstr>
      <vt:lpstr>Preenchimento Geral: Dangerous Goods Account Approval Request  (TD) Time Definite </vt:lpstr>
      <vt:lpstr>Preenchimento Geral: Dangerous Goods Account Approval Request  (TD) Time Definite </vt:lpstr>
      <vt:lpstr>Preenchimento Geral: Dangerous Goods Account Approval Request  (TD) Time Definite </vt:lpstr>
      <vt:lpstr>Formulário 2:</vt:lpstr>
      <vt:lpstr>Preenchimento Geral: Time Definite Dangerous Goods Authority Letter  </vt:lpstr>
      <vt:lpstr>Preenchimento Geral: Time Definite Dangerous Goods Authority Letter  </vt:lpstr>
      <vt:lpstr>Preenchimento Geral: Time Definite Dangerous Goods Authority Letter  </vt:lpstr>
      <vt:lpstr>Exemplo Preenchido: Dangerous Goods Account Approval Request  (TD) Time Definite | BATERIAS DE LÍTIO SEÇÃO II </vt:lpstr>
      <vt:lpstr>Exemplo Preenchido: Time Definite Dangerous Goods Authority Letter BATERIAS DE LÍTIO SEÇÃO II </vt:lpstr>
      <vt:lpstr>Exemplo Preenchido: Dangerous Goods Account Approval Request  (TD) Time Definite | FULL DG - LÍQUIDO INFLAMÁVEL [UN1266,III] </vt:lpstr>
      <vt:lpstr>Exemplo Preenchido: Time Definite Dangerous Goods Authority Letter FULL DG - LÍQUIDO INFLAMÁVEL [UN1266, III] </vt:lpstr>
      <vt:lpstr>Exemplo Preenchido: Time Definite Dangerous Goods Authority Letter FULL DG - LÍQUIDO INFLAMÁVEL [UN1266, III]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formulários aprovação de conta</dc:title>
  <dc:creator>Natalia Bezerra (DHL BR)</dc:creator>
  <cp:lastModifiedBy>Natalia Bezerra (DHL BR)</cp:lastModifiedBy>
  <cp:revision>95</cp:revision>
  <dcterms:created xsi:type="dcterms:W3CDTF">2024-04-10T17:40:59Z</dcterms:created>
  <dcterms:modified xsi:type="dcterms:W3CDTF">2025-04-01T01:03:21Z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6915f3-2f02-4945-8997-f2963298db46_Enabled">
    <vt:lpwstr>true</vt:lpwstr>
  </property>
  <property fmtid="{D5CDD505-2E9C-101B-9397-08002B2CF9AE}" pid="3" name="MSIP_Label_736915f3-2f02-4945-8997-f2963298db46_SetDate">
    <vt:lpwstr>2024-04-10T18:08:41Z</vt:lpwstr>
  </property>
  <property fmtid="{D5CDD505-2E9C-101B-9397-08002B2CF9AE}" pid="4" name="MSIP_Label_736915f3-2f02-4945-8997-f2963298db46_Method">
    <vt:lpwstr>Standard</vt:lpwstr>
  </property>
  <property fmtid="{D5CDD505-2E9C-101B-9397-08002B2CF9AE}" pid="5" name="MSIP_Label_736915f3-2f02-4945-8997-f2963298db46_Name">
    <vt:lpwstr>Internal</vt:lpwstr>
  </property>
  <property fmtid="{D5CDD505-2E9C-101B-9397-08002B2CF9AE}" pid="6" name="MSIP_Label_736915f3-2f02-4945-8997-f2963298db46_SiteId">
    <vt:lpwstr>cd99fef8-1cd3-4a2a-9bdf-15531181d65e</vt:lpwstr>
  </property>
  <property fmtid="{D5CDD505-2E9C-101B-9397-08002B2CF9AE}" pid="7" name="MSIP_Label_736915f3-2f02-4945-8997-f2963298db46_ActionId">
    <vt:lpwstr>07cfd850-84c2-43a6-933f-84103c7f0c6c</vt:lpwstr>
  </property>
  <property fmtid="{D5CDD505-2E9C-101B-9397-08002B2CF9AE}" pid="8" name="MSIP_Label_736915f3-2f02-4945-8997-f2963298db46_ContentBits">
    <vt:lpwstr>1</vt:lpwstr>
  </property>
  <property fmtid="{D5CDD505-2E9C-101B-9397-08002B2CF9AE}" pid="9" name="ClassificationContentMarkingHeaderLocations">
    <vt:lpwstr>DHL:4</vt:lpwstr>
  </property>
  <property fmtid="{D5CDD505-2E9C-101B-9397-08002B2CF9AE}" pid="10" name="ClassificationContentMarkingHeaderText">
    <vt:lpwstr>FOR INTERNAL USE</vt:lpwstr>
  </property>
  <property fmtid="{D5CDD505-2E9C-101B-9397-08002B2CF9AE}" pid="11" name="ContentTypeId">
    <vt:lpwstr>0x0101007E143D92C5B73144B1B67A527E67AD93</vt:lpwstr>
  </property>
  <property fmtid="{D5CDD505-2E9C-101B-9397-08002B2CF9AE}" pid="12" name="MediaServiceImageTags">
    <vt:lpwstr/>
  </property>
</Properties>
</file>